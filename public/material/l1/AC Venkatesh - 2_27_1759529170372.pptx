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9522" r:id="rId1"/>
  </p:sldMasterIdLst>
  <p:notesMasterIdLst>
    <p:notesMasterId r:id="rId14"/>
  </p:notesMasterIdLst>
  <p:handoutMasterIdLst>
    <p:handoutMasterId r:id="rId15"/>
  </p:handoutMasterIdLst>
  <p:sldIdLst>
    <p:sldId id="2880" r:id="rId2"/>
    <p:sldId id="2870" r:id="rId3"/>
    <p:sldId id="2871" r:id="rId4"/>
    <p:sldId id="2872" r:id="rId5"/>
    <p:sldId id="2873" r:id="rId6"/>
    <p:sldId id="2874" r:id="rId7"/>
    <p:sldId id="2875" r:id="rId8"/>
    <p:sldId id="2876" r:id="rId9"/>
    <p:sldId id="2877" r:id="rId10"/>
    <p:sldId id="2878" r:id="rId11"/>
    <p:sldId id="2879" r:id="rId12"/>
    <p:sldId id="2869" r:id="rId13"/>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nc-niat-aloff2 : Cdr Saju Unnikrishnan" initials="s:CSU" lastIdx="3" clrIdx="0">
    <p:extLst>
      <p:ext uri="{19B8F6BF-5375-455C-9EA6-DF929625EA0E}">
        <p15:presenceInfo xmlns:p15="http://schemas.microsoft.com/office/powerpoint/2012/main" userId="snc-niat-aloff2 : Cdr Saju Unnikrishnan" providerId="None"/>
      </p:ext>
    </p:extLst>
  </p:cmAuthor>
  <p:cmAuthor id="2" name="Vyshnav Vasanthakumar" initials="VV" lastIdx="2" clrIdx="1">
    <p:extLst>
      <p:ext uri="{19B8F6BF-5375-455C-9EA6-DF929625EA0E}">
        <p15:presenceInfo xmlns:p15="http://schemas.microsoft.com/office/powerpoint/2012/main" userId="dc48a7a4e1d38c65" providerId="Windows Live"/>
      </p:ext>
    </p:extLst>
  </p:cmAuthor>
  <p:cmAuthor id="3" name="Rishabh Upadhyay" initials="RU" lastIdx="4" clrIdx="2">
    <p:extLst>
      <p:ext uri="{19B8F6BF-5375-455C-9EA6-DF929625EA0E}">
        <p15:presenceInfo xmlns:p15="http://schemas.microsoft.com/office/powerpoint/2012/main" userId="df5f579d06228d5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D8EA"/>
    <a:srgbClr val="1D035D"/>
    <a:srgbClr val="800000"/>
    <a:srgbClr val="BFBFBF"/>
    <a:srgbClr val="45ADF8"/>
    <a:srgbClr val="101406"/>
    <a:srgbClr val="077ACC"/>
    <a:srgbClr val="262626"/>
    <a:srgbClr val="011829"/>
    <a:srgbClr val="094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93" autoAdjust="0"/>
    <p:restoredTop sz="78109" autoAdjust="0"/>
  </p:normalViewPr>
  <p:slideViewPr>
    <p:cSldViewPr>
      <p:cViewPr varScale="1">
        <p:scale>
          <a:sx n="67" d="100"/>
          <a:sy n="67" d="100"/>
        </p:scale>
        <p:origin x="1565" y="62"/>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p:cViewPr varScale="1">
        <p:scale>
          <a:sx n="68" d="100"/>
          <a:sy n="68" d="100"/>
        </p:scale>
        <p:origin x="325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dirty="0"/>
          </a:p>
        </p:txBody>
      </p:sp>
      <p:sp>
        <p:nvSpPr>
          <p:cNvPr id="153603"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D263C4A7-9AF9-42DE-A4BA-ACF0DFE46770}" type="datetime1">
              <a:rPr lang="en-US"/>
              <a:pPr>
                <a:defRPr/>
              </a:pPr>
              <a:t>11/2/2020</a:t>
            </a:fld>
            <a:endParaRPr lang="en-US" dirty="0"/>
          </a:p>
        </p:txBody>
      </p:sp>
      <p:sp>
        <p:nvSpPr>
          <p:cNvPr id="153604"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dirty="0"/>
          </a:p>
        </p:txBody>
      </p:sp>
      <p:sp>
        <p:nvSpPr>
          <p:cNvPr id="153605"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CC0FF926-919E-459A-AEE7-AE5DCD4A53CC}" type="slidenum">
              <a:rPr lang="en-US" altLang="en-US"/>
              <a:pPr>
                <a:defRPr/>
              </a:pPr>
              <a:t>‹#›</a:t>
            </a:fld>
            <a:endParaRPr lang="en-US" altLang="en-US" dirty="0"/>
          </a:p>
        </p:txBody>
      </p:sp>
    </p:spTree>
    <p:extLst>
      <p:ext uri="{BB962C8B-B14F-4D97-AF65-F5344CB8AC3E}">
        <p14:creationId xmlns:p14="http://schemas.microsoft.com/office/powerpoint/2010/main" val="201969581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dirty="0"/>
          </a:p>
        </p:txBody>
      </p:sp>
      <p:sp>
        <p:nvSpPr>
          <p:cNvPr id="49155"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171B1FA0-B2F0-4D41-8F1F-B9F3A884F08A}" type="datetime1">
              <a:rPr lang="en-US"/>
              <a:pPr>
                <a:defRPr/>
              </a:pPr>
              <a:t>11/2/2020</a:t>
            </a:fld>
            <a:endParaRPr lang="en-US" dirty="0"/>
          </a:p>
        </p:txBody>
      </p:sp>
      <p:sp>
        <p:nvSpPr>
          <p:cNvPr id="106500" name="Rectangle 4"/>
          <p:cNvSpPr>
            <a:spLocks noGrp="1" noRot="1" noChangeAspect="1" noChangeArrowheads="1" noTextEdit="1"/>
          </p:cNvSpPr>
          <p:nvPr>
            <p:ph type="sldImg" idx="2"/>
          </p:nvPr>
        </p:nvSpPr>
        <p:spPr bwMode="auto">
          <a:xfrm>
            <a:off x="1181100" y="696913"/>
            <a:ext cx="4649788" cy="3486150"/>
          </a:xfrm>
          <a:prstGeom prst="rect">
            <a:avLst/>
          </a:prstGeom>
          <a:noFill/>
          <a:ln w="9525">
            <a:solidFill>
              <a:srgbClr val="000000"/>
            </a:solidFill>
            <a:miter lim="800000"/>
            <a:headEnd/>
            <a:tailEnd/>
          </a:ln>
        </p:spPr>
      </p:sp>
      <p:sp>
        <p:nvSpPr>
          <p:cNvPr id="49157" name="Rectangle 5"/>
          <p:cNvSpPr>
            <a:spLocks noGrp="1" noChangeArrowheads="1"/>
          </p:cNvSpPr>
          <p:nvPr>
            <p:ph type="body" sz="quarter" idx="3"/>
          </p:nvPr>
        </p:nvSpPr>
        <p:spPr bwMode="auto">
          <a:xfrm>
            <a:off x="700088" y="4416425"/>
            <a:ext cx="5610225"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dirty="0"/>
          </a:p>
        </p:txBody>
      </p:sp>
      <p:sp>
        <p:nvSpPr>
          <p:cNvPr id="49159"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F4E9F80D-8D67-4506-ACA6-574195915E76}" type="slidenum">
              <a:rPr lang="en-US" altLang="en-US"/>
              <a:pPr>
                <a:defRPr/>
              </a:pPr>
              <a:t>‹#›</a:t>
            </a:fld>
            <a:endParaRPr lang="en-US" altLang="en-US" dirty="0"/>
          </a:p>
        </p:txBody>
      </p:sp>
    </p:spTree>
    <p:extLst>
      <p:ext uri="{BB962C8B-B14F-4D97-AF65-F5344CB8AC3E}">
        <p14:creationId xmlns:p14="http://schemas.microsoft.com/office/powerpoint/2010/main" val="2038573487"/>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pPr>
              <a:defRPr/>
            </a:pPr>
            <a:endParaRPr lang="en-US" dirty="0"/>
          </a:p>
        </p:txBody>
      </p:sp>
      <p:sp>
        <p:nvSpPr>
          <p:cNvPr id="5" name="Date Placeholder 4"/>
          <p:cNvSpPr>
            <a:spLocks noGrp="1"/>
          </p:cNvSpPr>
          <p:nvPr>
            <p:ph type="dt" idx="11"/>
          </p:nvPr>
        </p:nvSpPr>
        <p:spPr/>
        <p:txBody>
          <a:bodyPr/>
          <a:lstStyle/>
          <a:p>
            <a:pPr>
              <a:defRPr/>
            </a:pPr>
            <a:fld id="{171B1FA0-B2F0-4D41-8F1F-B9F3A884F08A}" type="datetime1">
              <a:rPr lang="en-US" smtClean="0"/>
              <a:t>11/2/2020</a:t>
            </a:fld>
            <a:endParaRPr lang="en-US" dirty="0"/>
          </a:p>
        </p:txBody>
      </p:sp>
      <p:sp>
        <p:nvSpPr>
          <p:cNvPr id="6" name="Footer Placeholder 5"/>
          <p:cNvSpPr>
            <a:spLocks noGrp="1"/>
          </p:cNvSpPr>
          <p:nvPr>
            <p:ph type="ftr" sz="quarter" idx="12"/>
          </p:nvPr>
        </p:nvSpPr>
        <p:spPr/>
        <p:txBody>
          <a:bodyPr/>
          <a:lstStyle/>
          <a:p>
            <a:pPr>
              <a:defRPr/>
            </a:pPr>
            <a:endParaRPr lang="en-US" dirty="0"/>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t>1</a:t>
            </a:fld>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a:xfrm>
            <a:off x="1181100" y="696913"/>
            <a:ext cx="4649788" cy="3486150"/>
          </a:xfrm>
          <a:ln/>
        </p:spPr>
      </p:sp>
      <p:sp>
        <p:nvSpPr>
          <p:cNvPr id="161795" name="Notes Placeholder 2"/>
          <p:cNvSpPr>
            <a:spLocks noGrp="1"/>
          </p:cNvSpPr>
          <p:nvPr>
            <p:ph type="body" idx="1"/>
          </p:nvPr>
        </p:nvSpPr>
        <p:spPr>
          <a:noFill/>
          <a:ln/>
        </p:spPr>
        <p:txBody>
          <a:bodyPr/>
          <a:lstStyle/>
          <a:p>
            <a:endParaRPr lang="en-US" sz="1200" kern="1200" dirty="0">
              <a:solidFill>
                <a:schemeClr val="tx1"/>
              </a:solidFill>
              <a:latin typeface="Arial" charset="0"/>
              <a:ea typeface="+mn-ea"/>
              <a:cs typeface="+mn-cs"/>
            </a:endParaRPr>
          </a:p>
        </p:txBody>
      </p:sp>
      <p:sp>
        <p:nvSpPr>
          <p:cNvPr id="161796" name="Date Placeholder 3"/>
          <p:cNvSpPr>
            <a:spLocks noGrp="1"/>
          </p:cNvSpPr>
          <p:nvPr>
            <p:ph type="dt" sz="quarter" idx="1"/>
          </p:nvPr>
        </p:nvSpPr>
        <p:spPr>
          <a:noFill/>
        </p:spPr>
        <p:txBody>
          <a:bodyPr/>
          <a:lstStyle/>
          <a:p>
            <a:fld id="{C7840502-BD40-40C5-B552-080A68BDF7DB}" type="datetime1">
              <a:rPr lang="en-US" altLang="en-US" smtClean="0"/>
              <a:pPr/>
              <a:t>11/2/2020</a:t>
            </a:fld>
            <a:endParaRPr lang="en-US" altLang="en-US" dirty="0"/>
          </a:p>
        </p:txBody>
      </p:sp>
      <p:sp>
        <p:nvSpPr>
          <p:cNvPr id="161797" name="Slide Number Placeholder 4"/>
          <p:cNvSpPr>
            <a:spLocks noGrp="1"/>
          </p:cNvSpPr>
          <p:nvPr>
            <p:ph type="sldNum" sz="quarter" idx="5"/>
          </p:nvPr>
        </p:nvSpPr>
        <p:spPr>
          <a:noFill/>
        </p:spPr>
        <p:txBody>
          <a:bodyPr/>
          <a:lstStyle/>
          <a:p>
            <a:fld id="{62148771-33F7-40ED-94E3-30E7637A3336}" type="slidenum">
              <a:rPr lang="en-US" altLang="en-US"/>
              <a:pPr/>
              <a:t>12</a:t>
            </a:fld>
            <a:endParaRPr lang="en-US" altLang="en-US" dirty="0"/>
          </a:p>
        </p:txBody>
      </p:sp>
      <p:sp>
        <p:nvSpPr>
          <p:cNvPr id="161798" name="Footer Placeholder 5"/>
          <p:cNvSpPr>
            <a:spLocks noGrp="1"/>
          </p:cNvSpPr>
          <p:nvPr>
            <p:ph type="ftr" sz="quarter" idx="4"/>
          </p:nvPr>
        </p:nvSpPr>
        <p:spPr>
          <a:noFill/>
        </p:spPr>
        <p:txBody>
          <a:bodyPr/>
          <a:lstStyle/>
          <a:p>
            <a:endParaRPr lang="en-US" altLang="en-US" dirty="0"/>
          </a:p>
        </p:txBody>
      </p:sp>
      <p:sp>
        <p:nvSpPr>
          <p:cNvPr id="161799" name="Header Placeholder 6"/>
          <p:cNvSpPr>
            <a:spLocks noGrp="1"/>
          </p:cNvSpPr>
          <p:nvPr>
            <p:ph type="hdr" sz="quarter"/>
          </p:nvPr>
        </p:nvSpPr>
        <p:spPr>
          <a:noFill/>
        </p:spPr>
        <p:txBody>
          <a:bodyPr/>
          <a:lstStyle/>
          <a:p>
            <a:endParaRPr lang="en-US" altLang="en-US" dirty="0"/>
          </a:p>
        </p:txBody>
      </p:sp>
    </p:spTree>
    <p:extLst>
      <p:ext uri="{BB962C8B-B14F-4D97-AF65-F5344CB8AC3E}">
        <p14:creationId xmlns:p14="http://schemas.microsoft.com/office/powerpoint/2010/main" val="2250270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u="sng">
                <a:solidFill>
                  <a:srgbClr val="FFFF0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6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defTabSz="342900" eaLnBrk="1" fontAlgn="auto" hangingPunct="1">
              <a:spcBef>
                <a:spcPts val="0"/>
              </a:spcBef>
              <a:spcAft>
                <a:spcPts val="0"/>
              </a:spcAft>
            </a:pPr>
            <a:fld id="{287BD2DA-379E-4C52-9863-ADDA0B5A5DB4}" type="datetime1">
              <a:rPr lang="en-US" smtClean="0">
                <a:solidFill>
                  <a:prstClr val="white">
                    <a:tint val="75000"/>
                  </a:prstClr>
                </a:solidFill>
                <a:latin typeface="Rockwell" panose="02060603020205020403"/>
              </a:rPr>
              <a:pPr defTabSz="342900" eaLnBrk="1" fontAlgn="auto" hangingPunct="1">
                <a:spcBef>
                  <a:spcPts val="0"/>
                </a:spcBef>
                <a:spcAft>
                  <a:spcPts val="0"/>
                </a:spcAft>
              </a:pPr>
              <a:t>11/2/2020</a:t>
            </a:fld>
            <a:endParaRPr lang="en-US" dirty="0">
              <a:solidFill>
                <a:prstClr val="white">
                  <a:tint val="75000"/>
                </a:prstClr>
              </a:solidFill>
              <a:latin typeface="Rockwell" panose="02060603020205020403"/>
            </a:endParaRPr>
          </a:p>
        </p:txBody>
      </p:sp>
      <p:sp>
        <p:nvSpPr>
          <p:cNvPr id="5" name="Footer Placeholder 4"/>
          <p:cNvSpPr>
            <a:spLocks noGrp="1"/>
          </p:cNvSpPr>
          <p:nvPr>
            <p:ph type="ftr" sz="quarter" idx="11"/>
          </p:nvPr>
        </p:nvSpPr>
        <p:spPr/>
        <p:txBody>
          <a:bodyPr/>
          <a:lstStyle/>
          <a:p>
            <a:pPr defTabSz="342900" eaLnBrk="1" fontAlgn="auto" hangingPunct="1">
              <a:spcBef>
                <a:spcPts val="0"/>
              </a:spcBef>
              <a:spcAft>
                <a:spcPts val="0"/>
              </a:spcAft>
            </a:pPr>
            <a:endParaRPr lang="en-US" dirty="0">
              <a:solidFill>
                <a:prstClr val="white">
                  <a:tint val="75000"/>
                </a:prstClr>
              </a:solidFill>
              <a:latin typeface="Rockwell" panose="02060603020205020403"/>
            </a:endParaRPr>
          </a:p>
        </p:txBody>
      </p:sp>
      <p:sp>
        <p:nvSpPr>
          <p:cNvPr id="6" name="Slide Number Placeholder 5"/>
          <p:cNvSpPr>
            <a:spLocks noGrp="1"/>
          </p:cNvSpPr>
          <p:nvPr>
            <p:ph type="sldNum" sz="quarter" idx="12"/>
          </p:nvPr>
        </p:nvSpPr>
        <p:spPr/>
        <p:txBody>
          <a:bodyPr/>
          <a:lstStyle/>
          <a:p>
            <a:pPr defTabSz="342900" eaLnBrk="1" fontAlgn="auto" hangingPunct="1">
              <a:spcBef>
                <a:spcPts val="0"/>
              </a:spcBef>
              <a:spcAft>
                <a:spcPts val="0"/>
              </a:spcAft>
            </a:pPr>
            <a:fld id="{6D22F896-40B5-4ADD-8801-0D06FADFA095}" type="slidenum">
              <a:rPr lang="en-US" smtClean="0">
                <a:solidFill>
                  <a:prstClr val="white">
                    <a:tint val="75000"/>
                  </a:prstClr>
                </a:solidFill>
                <a:latin typeface="Rockwell" panose="02060603020205020403"/>
              </a:rPr>
              <a:pPr defTabSz="342900" eaLnBrk="1" fontAlgn="auto" hangingPunct="1">
                <a:spcBef>
                  <a:spcPts val="0"/>
                </a:spcBef>
                <a:spcAft>
                  <a:spcPts val="0"/>
                </a:spcAft>
              </a:pPr>
              <a:t>‹#›</a:t>
            </a:fld>
            <a:endParaRPr lang="en-US" dirty="0">
              <a:solidFill>
                <a:prstClr val="white">
                  <a:tint val="75000"/>
                </a:prstClr>
              </a:solidFill>
              <a:latin typeface="Rockwell" panose="02060603020205020403"/>
            </a:endParaRPr>
          </a:p>
        </p:txBody>
      </p:sp>
    </p:spTree>
    <p:extLst>
      <p:ext uri="{BB962C8B-B14F-4D97-AF65-F5344CB8AC3E}">
        <p14:creationId xmlns:p14="http://schemas.microsoft.com/office/powerpoint/2010/main" val="695483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noChangeArrowheads="1"/>
          </p:cNvSpPr>
          <p:nvPr>
            <p:ph type="dt" sz="half" idx="10"/>
          </p:nvPr>
        </p:nvSpPr>
        <p:spPr bwMode="auto">
          <a:xfrm>
            <a:off x="0" y="6400802"/>
            <a:ext cx="1447800" cy="320675"/>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eaLnBrk="1" hangingPunct="1">
              <a:defRPr sz="1600">
                <a:latin typeface="Arial" charset="0"/>
              </a:defRPr>
            </a:lvl1pPr>
          </a:lstStyle>
          <a:p>
            <a:pPr>
              <a:defRPr/>
            </a:pPr>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cstate="print">
            <a:duotone>
              <a:schemeClr val="bg2">
                <a:shade val="18000"/>
                <a:satMod val="160000"/>
                <a:lumMod val="28000"/>
              </a:schemeClr>
              <a:schemeClr val="bg2">
                <a:tint val="95000"/>
                <a:satMod val="160000"/>
                <a:lumMod val="116000"/>
              </a:schemeClr>
            </a:duotone>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8" y="609603"/>
            <a:ext cx="7765321" cy="132632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5347" y="2096064"/>
            <a:ext cx="7765322" cy="369513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8"/>
            <a:ext cx="2057400" cy="365125"/>
          </a:xfrm>
          <a:prstGeom prst="rect">
            <a:avLst/>
          </a:prstGeom>
        </p:spPr>
        <p:txBody>
          <a:bodyPr vert="horz" lIns="91440" tIns="45720" rIns="91440" bIns="45720" rtlCol="0" anchor="ctr"/>
          <a:lstStyle>
            <a:lvl1pPr algn="r">
              <a:defRPr sz="750">
                <a:solidFill>
                  <a:schemeClr val="tx1">
                    <a:tint val="75000"/>
                  </a:schemeClr>
                </a:solidFill>
                <a:latin typeface="Arial" panose="020B0604020202020204" pitchFamily="34" charset="0"/>
                <a:cs typeface="Arial" panose="020B0604020202020204" pitchFamily="34" charset="0"/>
              </a:defRPr>
            </a:lvl1pPr>
          </a:lstStyle>
          <a:p>
            <a:pPr defTabSz="342900" eaLnBrk="1" fontAlgn="auto" hangingPunct="1">
              <a:spcBef>
                <a:spcPts val="0"/>
              </a:spcBef>
              <a:spcAft>
                <a:spcPts val="0"/>
              </a:spcAft>
            </a:pPr>
            <a:fld id="{48A87A34-81AB-432B-8DAE-1953F412C126}" type="datetimeFigureOut">
              <a:rPr lang="en-US" smtClean="0">
                <a:solidFill>
                  <a:prstClr val="white">
                    <a:tint val="75000"/>
                  </a:prstClr>
                </a:solidFill>
              </a:rPr>
              <a:pPr defTabSz="342900" eaLnBrk="1" fontAlgn="auto" hangingPunct="1">
                <a:spcBef>
                  <a:spcPts val="0"/>
                </a:spcBef>
                <a:spcAft>
                  <a:spcPts val="0"/>
                </a:spcAft>
              </a:pPr>
              <a:t>11/2/2020</a:t>
            </a:fld>
            <a:endParaRPr lang="en-US" dirty="0">
              <a:solidFill>
                <a:prstClr val="white">
                  <a:tint val="75000"/>
                </a:prstClr>
              </a:solidFill>
            </a:endParaRPr>
          </a:p>
        </p:txBody>
      </p:sp>
      <p:sp>
        <p:nvSpPr>
          <p:cNvPr id="5" name="Footer Placeholder 4"/>
          <p:cNvSpPr>
            <a:spLocks noGrp="1"/>
          </p:cNvSpPr>
          <p:nvPr>
            <p:ph type="ftr" sz="quarter" idx="3"/>
          </p:nvPr>
        </p:nvSpPr>
        <p:spPr>
          <a:xfrm>
            <a:off x="685347" y="5883278"/>
            <a:ext cx="5004649" cy="365125"/>
          </a:xfrm>
          <a:prstGeom prst="rect">
            <a:avLst/>
          </a:prstGeom>
        </p:spPr>
        <p:txBody>
          <a:bodyPr vert="horz" lIns="91440" tIns="45720" rIns="91440" bIns="45720" rtlCol="0" anchor="ctr"/>
          <a:lstStyle>
            <a:lvl1pPr algn="l">
              <a:defRPr sz="750">
                <a:solidFill>
                  <a:schemeClr val="tx1">
                    <a:tint val="75000"/>
                  </a:schemeClr>
                </a:solidFill>
                <a:latin typeface="Arial" panose="020B0604020202020204" pitchFamily="34" charset="0"/>
                <a:cs typeface="Arial" panose="020B0604020202020204" pitchFamily="34" charset="0"/>
              </a:defRPr>
            </a:lvl1pPr>
          </a:lstStyle>
          <a:p>
            <a:pPr defTabSz="342900" eaLnBrk="1" fontAlgn="auto" hangingPunct="1">
              <a:spcBef>
                <a:spcPts val="0"/>
              </a:spcBef>
              <a:spcAft>
                <a:spcPts val="0"/>
              </a:spcAft>
            </a:pPr>
            <a:endParaRPr lang="en-US" dirty="0">
              <a:solidFill>
                <a:prstClr val="white">
                  <a:tint val="75000"/>
                </a:prstClr>
              </a:solidFill>
            </a:endParaRPr>
          </a:p>
        </p:txBody>
      </p:sp>
      <p:sp>
        <p:nvSpPr>
          <p:cNvPr id="6" name="Slide Number Placeholder 5"/>
          <p:cNvSpPr>
            <a:spLocks noGrp="1"/>
          </p:cNvSpPr>
          <p:nvPr>
            <p:ph type="sldNum" sz="quarter" idx="4"/>
          </p:nvPr>
        </p:nvSpPr>
        <p:spPr>
          <a:xfrm>
            <a:off x="7885510" y="5883278"/>
            <a:ext cx="565159" cy="365125"/>
          </a:xfrm>
          <a:prstGeom prst="rect">
            <a:avLst/>
          </a:prstGeom>
        </p:spPr>
        <p:txBody>
          <a:bodyPr vert="horz" lIns="91440" tIns="45720" rIns="91440" bIns="45720" rtlCol="0" anchor="ctr"/>
          <a:lstStyle>
            <a:lvl1pPr algn="r">
              <a:defRPr sz="750">
                <a:solidFill>
                  <a:schemeClr val="tx1">
                    <a:tint val="75000"/>
                  </a:schemeClr>
                </a:solidFill>
                <a:latin typeface="Arial" panose="020B0604020202020204" pitchFamily="34" charset="0"/>
                <a:cs typeface="Arial" panose="020B0604020202020204" pitchFamily="34" charset="0"/>
              </a:defRPr>
            </a:lvl1pPr>
          </a:lstStyle>
          <a:p>
            <a:pPr defTabSz="342900" eaLnBrk="1" fontAlgn="auto" hangingPunct="1">
              <a:spcBef>
                <a:spcPts val="0"/>
              </a:spcBef>
              <a:spcAft>
                <a:spcPts val="0"/>
              </a:spcAft>
            </a:pPr>
            <a:fld id="{6D22F896-40B5-4ADD-8801-0D06FADFA095}" type="slidenum">
              <a:rPr lang="en-US" smtClean="0">
                <a:solidFill>
                  <a:prstClr val="white">
                    <a:tint val="75000"/>
                  </a:prstClr>
                </a:solidFill>
              </a:rPr>
              <a:pPr defTabSz="342900" eaLnBrk="1" fontAlgn="auto" hangingPunct="1">
                <a:spcBef>
                  <a:spcPts val="0"/>
                </a:spcBef>
                <a:spcAft>
                  <a:spcPts val="0"/>
                </a:spcAft>
              </a:pPr>
              <a:t>‹#›</a:t>
            </a:fld>
            <a:endParaRPr lang="en-US" dirty="0">
              <a:solidFill>
                <a:prstClr val="white">
                  <a:tint val="75000"/>
                </a:prstClr>
              </a:solidFill>
            </a:endParaRPr>
          </a:p>
        </p:txBody>
      </p:sp>
      <p:pic>
        <p:nvPicPr>
          <p:cNvPr id="10" name="Picture 9">
            <a:extLst>
              <a:ext uri="{FF2B5EF4-FFF2-40B4-BE49-F238E27FC236}">
                <a16:creationId xmlns:a16="http://schemas.microsoft.com/office/drawing/2014/main" id="{C43F0BE1-8320-45FB-B81A-E835FF6F0AE6}"/>
              </a:ext>
            </a:extLst>
          </p:cNvPr>
          <p:cNvPicPr>
            <a:picLocks noChangeAspect="1"/>
          </p:cNvPicPr>
          <p:nvPr userDrawn="1"/>
        </p:nvPicPr>
        <p:blipFill>
          <a:blip r:embed="rId5">
            <a:extLst>
              <a:ext uri="{BEBA8EAE-BF5A-486C-A8C5-ECC9F3942E4B}">
                <a14:imgProps xmlns:a14="http://schemas.microsoft.com/office/drawing/2010/main">
                  <a14:imgLayer r:embed="rId6">
                    <a14:imgEffect>
                      <a14:backgroundRemoval t="10000" b="90000" l="10000" r="90000">
                        <a14:foregroundMark x1="50313" y1="89746" x2="50313" y2="89746"/>
                      </a14:backgroundRemoval>
                    </a14:imgEffect>
                  </a14:imgLayer>
                </a14:imgProps>
              </a:ext>
            </a:extLst>
          </a:blip>
          <a:stretch>
            <a:fillRect/>
          </a:stretch>
        </p:blipFill>
        <p:spPr>
          <a:xfrm>
            <a:off x="-76199" y="-31864"/>
            <a:ext cx="914400" cy="742950"/>
          </a:xfrm>
          <a:prstGeom prst="rect">
            <a:avLst/>
          </a:prstGeom>
        </p:spPr>
      </p:pic>
      <p:grpSp>
        <p:nvGrpSpPr>
          <p:cNvPr id="13" name="Group 12">
            <a:extLst>
              <a:ext uri="{FF2B5EF4-FFF2-40B4-BE49-F238E27FC236}">
                <a16:creationId xmlns:a16="http://schemas.microsoft.com/office/drawing/2014/main" id="{C728D18C-47F1-4FFD-B8AC-7CD04F3C88A4}"/>
              </a:ext>
            </a:extLst>
          </p:cNvPr>
          <p:cNvGrpSpPr/>
          <p:nvPr userDrawn="1"/>
        </p:nvGrpSpPr>
        <p:grpSpPr>
          <a:xfrm>
            <a:off x="8522484" y="3265"/>
            <a:ext cx="597963" cy="707821"/>
            <a:chOff x="7532616" y="2873579"/>
            <a:chExt cx="1524000" cy="1905000"/>
          </a:xfrm>
        </p:grpSpPr>
        <p:sp>
          <p:nvSpPr>
            <p:cNvPr id="14" name="Oval 13">
              <a:extLst>
                <a:ext uri="{FF2B5EF4-FFF2-40B4-BE49-F238E27FC236}">
                  <a16:creationId xmlns:a16="http://schemas.microsoft.com/office/drawing/2014/main" id="{E858371A-4B7D-4C5C-96AF-0294181FA68D}"/>
                </a:ext>
              </a:extLst>
            </p:cNvPr>
            <p:cNvSpPr/>
            <p:nvPr/>
          </p:nvSpPr>
          <p:spPr>
            <a:xfrm>
              <a:off x="7772400" y="3336329"/>
              <a:ext cx="990600" cy="10072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2" descr="\\161.9.45.212\samba\IT Cell\niat log.jpg">
              <a:extLst>
                <a:ext uri="{FF2B5EF4-FFF2-40B4-BE49-F238E27FC236}">
                  <a16:creationId xmlns:a16="http://schemas.microsoft.com/office/drawing/2014/main" id="{F7A55E52-829C-44F5-ACEA-8066C647C0CD}"/>
                </a:ext>
              </a:extLst>
            </p:cNvPr>
            <p:cNvPicPr>
              <a:picLocks noChangeAspect="1" noChangeArrowheads="1"/>
            </p:cNvPicPr>
            <p:nvPr/>
          </p:nvPicPr>
          <p:blipFill>
            <a:blip r:embed="rId7" cstate="print">
              <a:clrChange>
                <a:clrFrom>
                  <a:srgbClr val="FDFDFD"/>
                </a:clrFrom>
                <a:clrTo>
                  <a:srgbClr val="FDFDFD">
                    <a:alpha val="0"/>
                  </a:srgbClr>
                </a:clrTo>
              </a:clrChange>
            </a:blip>
            <a:stretch>
              <a:fillRect/>
            </a:stretch>
          </p:blipFill>
          <p:spPr bwMode="auto">
            <a:xfrm>
              <a:off x="7532616" y="2873579"/>
              <a:ext cx="1524000" cy="1905000"/>
            </a:xfrm>
            <a:prstGeom prst="rect">
              <a:avLst/>
            </a:prstGeom>
            <a:noFill/>
            <a:ln>
              <a:noFill/>
            </a:ln>
          </p:spPr>
        </p:pic>
      </p:grpSp>
    </p:spTree>
    <p:extLst>
      <p:ext uri="{BB962C8B-B14F-4D97-AF65-F5344CB8AC3E}">
        <p14:creationId xmlns:p14="http://schemas.microsoft.com/office/powerpoint/2010/main" val="3327714114"/>
      </p:ext>
    </p:extLst>
  </p:cSld>
  <p:clrMap bg1="dk1" tx1="lt1" bg2="dk2" tx2="lt2" accent1="accent1" accent2="accent2" accent3="accent3" accent4="accent4" accent5="accent5" accent6="accent6" hlink="hlink" folHlink="folHlink"/>
  <p:sldLayoutIdLst>
    <p:sldLayoutId id="2147489524" r:id="rId1"/>
    <p:sldLayoutId id="2147489525" r:id="rId2"/>
  </p:sldLayoutIdLst>
  <p:hf sldNum="0" hdr="0" ftr="0" dt="0"/>
  <p:txStyles>
    <p:titleStyle>
      <a:lvl1pPr algn="ctr" defTabSz="685800" rtl="0" eaLnBrk="1" latinLnBrk="0" hangingPunct="1">
        <a:lnSpc>
          <a:spcPct val="90000"/>
        </a:lnSpc>
        <a:spcBef>
          <a:spcPct val="0"/>
        </a:spcBef>
        <a:buNone/>
        <a:defRPr sz="3200" b="1" i="0" u="sng" kern="1200" cap="all">
          <a:solidFill>
            <a:srgbClr val="FFFF00"/>
          </a:solidFill>
          <a:effectLst>
            <a:outerShdw blurRad="50800" dist="63500" dir="2700000" algn="tl" rotWithShape="0">
              <a:srgbClr val="000000">
                <a:alpha val="48000"/>
              </a:srgbClr>
            </a:outerShdw>
          </a:effectLst>
          <a:latin typeface="Arial" panose="020B0604020202020204" pitchFamily="34" charset="0"/>
          <a:ea typeface="+mj-ea"/>
          <a:cs typeface="Arial" panose="020B0604020202020204" pitchFamily="34" charset="0"/>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50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20000"/>
        </a:lnSpc>
        <a:spcBef>
          <a:spcPts val="375"/>
        </a:spcBef>
        <a:buFont typeface="Arial" panose="020B0604020202020204" pitchFamily="34" charset="0"/>
        <a:buChar char="•"/>
        <a:defRPr sz="135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20000"/>
        </a:lnSpc>
        <a:spcBef>
          <a:spcPts val="375"/>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20000"/>
        </a:lnSpc>
        <a:spcBef>
          <a:spcPts val="375"/>
        </a:spcBef>
        <a:buFont typeface="Arial" panose="020B0604020202020204" pitchFamily="34" charset="0"/>
        <a:buChar char="•"/>
        <a:defRPr sz="105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2288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7pPr>
      <a:lvl8pPr marL="25717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8pPr>
      <a:lvl9pPr marL="29146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13.jpe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5.jpe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9339" y="426279"/>
            <a:ext cx="7765321" cy="2426657"/>
          </a:xfrm>
        </p:spPr>
        <p:txBody>
          <a:bodyPr>
            <a:normAutofit/>
          </a:bodyPr>
          <a:lstStyle/>
          <a:p>
            <a:r>
              <a:rPr lang="en-US" dirty="0">
                <a:effectLst/>
              </a:rPr>
              <a:t>Introduction to aeronautics and classification of aircrafts</a:t>
            </a:r>
            <a:endParaRPr lang="en-IN" dirty="0">
              <a:effectLst/>
            </a:endParaRPr>
          </a:p>
        </p:txBody>
      </p:sp>
      <p:sp>
        <p:nvSpPr>
          <p:cNvPr id="8" name="TextBox 7"/>
          <p:cNvSpPr txBox="1"/>
          <p:nvPr/>
        </p:nvSpPr>
        <p:spPr>
          <a:xfrm>
            <a:off x="179512" y="4941168"/>
            <a:ext cx="4740824" cy="830997"/>
          </a:xfrm>
          <a:prstGeom prst="rect">
            <a:avLst/>
          </a:prstGeom>
          <a:noFill/>
        </p:spPr>
        <p:txBody>
          <a:bodyPr wrap="square" rtlCol="0">
            <a:spAutoFit/>
          </a:bodyPr>
          <a:lstStyle/>
          <a:p>
            <a:r>
              <a:rPr lang="en-US" sz="2400" b="1" u="sng" dirty="0">
                <a:solidFill>
                  <a:srgbClr val="FFFF00"/>
                </a:solidFill>
              </a:rPr>
              <a:t>Presented by</a:t>
            </a:r>
            <a:r>
              <a:rPr lang="en-US" sz="2400" b="1" dirty="0">
                <a:solidFill>
                  <a:srgbClr val="FFFF00"/>
                </a:solidFill>
              </a:rPr>
              <a:t>:</a:t>
            </a:r>
            <a:endParaRPr lang="en-US" sz="2400" b="1" u="sng" dirty="0">
              <a:solidFill>
                <a:srgbClr val="FFFF00"/>
              </a:solidFill>
            </a:endParaRPr>
          </a:p>
          <a:p>
            <a:r>
              <a:rPr lang="en-US" sz="2400" b="1" dirty="0">
                <a:solidFill>
                  <a:srgbClr val="FFFF00"/>
                </a:solidFill>
              </a:rPr>
              <a:t>Asst. Comdt. Venkatesh Raj</a:t>
            </a:r>
            <a:endParaRPr lang="en-IN" sz="2400" b="1" dirty="0">
              <a:solidFill>
                <a:srgbClr val="FFFF00"/>
              </a:solidFill>
            </a:endParaRPr>
          </a:p>
        </p:txBody>
      </p:sp>
      <p:sp>
        <p:nvSpPr>
          <p:cNvPr id="9" name="TextBox 8"/>
          <p:cNvSpPr txBox="1"/>
          <p:nvPr/>
        </p:nvSpPr>
        <p:spPr>
          <a:xfrm>
            <a:off x="5148064" y="4941169"/>
            <a:ext cx="3995936" cy="830997"/>
          </a:xfrm>
          <a:prstGeom prst="rect">
            <a:avLst/>
          </a:prstGeom>
          <a:noFill/>
        </p:spPr>
        <p:txBody>
          <a:bodyPr wrap="square" rtlCol="0">
            <a:spAutoFit/>
          </a:bodyPr>
          <a:lstStyle/>
          <a:p>
            <a:r>
              <a:rPr lang="en-US" sz="2400" b="1" u="sng" dirty="0">
                <a:solidFill>
                  <a:srgbClr val="FFFF00"/>
                </a:solidFill>
              </a:rPr>
              <a:t>Vetted By</a:t>
            </a:r>
            <a:r>
              <a:rPr lang="en-US" sz="2400" b="1" dirty="0">
                <a:solidFill>
                  <a:srgbClr val="FFFF00"/>
                </a:solidFill>
              </a:rPr>
              <a:t>:</a:t>
            </a:r>
            <a:endParaRPr lang="en-US" sz="2400" b="1" u="sng" dirty="0">
              <a:solidFill>
                <a:srgbClr val="FFFF00"/>
              </a:solidFill>
            </a:endParaRPr>
          </a:p>
          <a:p>
            <a:r>
              <a:rPr lang="en-US" sz="2400" b="1" dirty="0">
                <a:solidFill>
                  <a:srgbClr val="FFFF00"/>
                </a:solidFill>
              </a:rPr>
              <a:t>Commander. Vivek Ratee</a:t>
            </a:r>
            <a:endParaRPr lang="en-IN" sz="2400" b="1" dirty="0">
              <a:solidFill>
                <a:srgbClr val="FFFF00"/>
              </a:solidFill>
            </a:endParaRPr>
          </a:p>
        </p:txBody>
      </p:sp>
      <p:pic>
        <p:nvPicPr>
          <p:cNvPr id="2" name="Picture 2" descr="\\161.9.45.212\samba\IT Cell\niat log.jpg">
            <a:extLst>
              <a:ext uri="{FF2B5EF4-FFF2-40B4-BE49-F238E27FC236}">
                <a16:creationId xmlns:a16="http://schemas.microsoft.com/office/drawing/2014/main" id="{E2E75F73-E69C-4E7B-966F-D7BBD70E2FC2}"/>
              </a:ext>
            </a:extLst>
          </p:cNvPr>
          <p:cNvPicPr>
            <a:picLocks noChangeAspect="1" noChangeArrowheads="1"/>
          </p:cNvPicPr>
          <p:nvPr/>
        </p:nvPicPr>
        <p:blipFill>
          <a:blip r:embed="rId3" cstate="print">
            <a:clrChange>
              <a:clrFrom>
                <a:srgbClr val="FDFDFD"/>
              </a:clrFrom>
              <a:clrTo>
                <a:srgbClr val="FDFDFD">
                  <a:alpha val="0"/>
                </a:srgbClr>
              </a:clrTo>
            </a:clrChange>
          </a:blip>
          <a:stretch>
            <a:fillRect/>
          </a:stretch>
        </p:blipFill>
        <p:spPr bwMode="auto">
          <a:xfrm>
            <a:off x="3809999" y="2476500"/>
            <a:ext cx="1524000" cy="190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3CF9-E5DB-459F-B32D-52F3B3EA10A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F819799-EB72-485E-AF62-22945F7218E6}"/>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65" y="616229"/>
            <a:ext cx="7773304" cy="4838700"/>
          </a:xfrm>
          <a:prstGeom prst="rect">
            <a:avLst/>
          </a:prstGeom>
          <a:noFill/>
          <a:ln>
            <a:noFill/>
          </a:ln>
        </p:spPr>
      </p:pic>
    </p:spTree>
    <p:extLst>
      <p:ext uri="{BB962C8B-B14F-4D97-AF65-F5344CB8AC3E}">
        <p14:creationId xmlns:p14="http://schemas.microsoft.com/office/powerpoint/2010/main" val="4244334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E94AE-9724-4C39-BA2E-D54AD754C506}"/>
              </a:ext>
            </a:extLst>
          </p:cNvPr>
          <p:cNvSpPr>
            <a:spLocks noGrp="1"/>
          </p:cNvSpPr>
          <p:nvPr>
            <p:ph type="title"/>
          </p:nvPr>
        </p:nvSpPr>
        <p:spPr/>
        <p:txBody>
          <a:bodyPr/>
          <a:lstStyle/>
          <a:p>
            <a:r>
              <a:rPr lang="en-US" dirty="0"/>
              <a:t>CONFIGURATION OF VARIOUS TYPES OF AIRCRAFTS</a:t>
            </a:r>
            <a:endParaRPr lang="en-IN" dirty="0"/>
          </a:p>
        </p:txBody>
      </p:sp>
      <p:sp>
        <p:nvSpPr>
          <p:cNvPr id="3" name="Content Placeholder 2">
            <a:extLst>
              <a:ext uri="{FF2B5EF4-FFF2-40B4-BE49-F238E27FC236}">
                <a16:creationId xmlns:a16="http://schemas.microsoft.com/office/drawing/2014/main" id="{6DBE55DD-D894-4B60-B99D-2DD959BC89E5}"/>
              </a:ext>
            </a:extLst>
          </p:cNvPr>
          <p:cNvSpPr>
            <a:spLocks noGrp="1"/>
          </p:cNvSpPr>
          <p:nvPr>
            <p:ph idx="1"/>
          </p:nvPr>
        </p:nvSpPr>
        <p:spPr/>
        <p:txBody>
          <a:bodyPr/>
          <a:lstStyle/>
          <a:p>
            <a:r>
              <a:rPr lang="en-US" sz="1800" b="1" u="sng">
                <a:effectLst/>
                <a:latin typeface="Arial" panose="020B0604020202020204" pitchFamily="34" charset="0"/>
                <a:ea typeface="Calibri" panose="020F0502020204030204" pitchFamily="34" charset="0"/>
              </a:rPr>
              <a:t>Fixed Wing Aircraft</a:t>
            </a:r>
          </a:p>
          <a:p>
            <a:r>
              <a:rPr lang="en-IN" sz="1800">
                <a:effectLst/>
                <a:latin typeface="Arial" panose="020B0604020202020204" pitchFamily="34" charset="0"/>
                <a:ea typeface="Calibri" panose="020F0502020204030204" pitchFamily="34" charset="0"/>
              </a:rPr>
              <a:t>A fixed-wing aircraft is a flying machine, such as an airplane, which is capable of flight using wings that generate lift caused by the aircraft's forward airspeed and the shape of the wings. </a:t>
            </a:r>
            <a:endParaRPr lang="en-US" sz="1800" b="1" u="sng">
              <a:effectLst/>
              <a:latin typeface="Arial" panose="020B0604020202020204" pitchFamily="34" charset="0"/>
              <a:ea typeface="Calibri" panose="020F0502020204030204" pitchFamily="34" charset="0"/>
            </a:endParaRPr>
          </a:p>
          <a:p>
            <a:endParaRPr lang="en-IN" dirty="0"/>
          </a:p>
        </p:txBody>
      </p:sp>
      <p:pic>
        <p:nvPicPr>
          <p:cNvPr id="4" name="Picture 3" descr="India provides Dornier aircraft to Maldives in sync with growing strategic  ties - The Financial Express">
            <a:extLst>
              <a:ext uri="{FF2B5EF4-FFF2-40B4-BE49-F238E27FC236}">
                <a16:creationId xmlns:a16="http://schemas.microsoft.com/office/drawing/2014/main" id="{97756E15-96FE-4729-8872-C68E12D74C4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01730" y="3810000"/>
            <a:ext cx="3932555" cy="1821815"/>
          </a:xfrm>
          <a:prstGeom prst="rect">
            <a:avLst/>
          </a:prstGeom>
          <a:noFill/>
          <a:ln>
            <a:noFill/>
          </a:ln>
        </p:spPr>
      </p:pic>
    </p:spTree>
    <p:extLst>
      <p:ext uri="{BB962C8B-B14F-4D97-AF65-F5344CB8AC3E}">
        <p14:creationId xmlns:p14="http://schemas.microsoft.com/office/powerpoint/2010/main" val="1502916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53DF-4AFE-481D-8D50-9D92F0636FAB}"/>
              </a:ext>
            </a:extLst>
          </p:cNvPr>
          <p:cNvSpPr>
            <a:spLocks noGrp="1"/>
          </p:cNvSpPr>
          <p:nvPr>
            <p:ph type="title"/>
          </p:nvPr>
        </p:nvSpPr>
        <p:spPr/>
        <p:txBody>
          <a:bodyPr/>
          <a:lstStyle/>
          <a:p>
            <a:r>
              <a:rPr lang="en-US" sz="3200" b="1" u="sng">
                <a:effectLst/>
                <a:latin typeface="Arial" panose="020B0604020202020204" pitchFamily="34" charset="0"/>
                <a:ea typeface="Calibri" panose="020F0502020204030204" pitchFamily="34" charset="0"/>
              </a:rPr>
              <a:t>Fixed Wing Aircraft</a:t>
            </a:r>
            <a:br>
              <a:rPr lang="en-US" sz="3200" b="1" u="sng">
                <a:effectLst/>
                <a:latin typeface="Arial" panose="020B060402020202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82C1A59F-108A-4794-9DE1-0738F553F1EA}"/>
              </a:ext>
            </a:extLst>
          </p:cNvPr>
          <p:cNvSpPr>
            <a:spLocks noGrp="1"/>
          </p:cNvSpPr>
          <p:nvPr>
            <p:ph idx="1"/>
          </p:nvPr>
        </p:nvSpPr>
        <p:spPr/>
        <p:txBody>
          <a:bodyPr/>
          <a:lstStyle/>
          <a:p>
            <a:r>
              <a:rPr lang="en-US" b="1" u="sng" dirty="0"/>
              <a:t>Light Aircraft :</a:t>
            </a:r>
            <a:r>
              <a:rPr lang="en-US" dirty="0"/>
              <a:t>	A light aircraft is an aircraft that has a maximum gross take-off weight of 12,500 </a:t>
            </a:r>
            <a:r>
              <a:rPr lang="en-US" dirty="0" err="1"/>
              <a:t>lb</a:t>
            </a:r>
            <a:r>
              <a:rPr lang="en-US" dirty="0"/>
              <a:t> (5,670 kg) or less. Light aircraft are used commercially for passenger and freight transport, sightseeing, photography, and other roles, as well as personal use.</a:t>
            </a:r>
            <a:endParaRPr lang="en-IN" dirty="0"/>
          </a:p>
        </p:txBody>
      </p:sp>
      <p:pic>
        <p:nvPicPr>
          <p:cNvPr id="4" name="Picture 3" descr="Light aircraft - Wikipedia">
            <a:extLst>
              <a:ext uri="{FF2B5EF4-FFF2-40B4-BE49-F238E27FC236}">
                <a16:creationId xmlns:a16="http://schemas.microsoft.com/office/drawing/2014/main" id="{E3C0F5CB-E59E-4B0E-B563-36ECC478CBF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512185"/>
            <a:ext cx="4795520" cy="2279015"/>
          </a:xfrm>
          <a:prstGeom prst="rect">
            <a:avLst/>
          </a:prstGeom>
          <a:noFill/>
          <a:ln>
            <a:noFill/>
          </a:ln>
        </p:spPr>
      </p:pic>
    </p:spTree>
    <p:extLst>
      <p:ext uri="{BB962C8B-B14F-4D97-AF65-F5344CB8AC3E}">
        <p14:creationId xmlns:p14="http://schemas.microsoft.com/office/powerpoint/2010/main" val="2442288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FD31D-4563-428D-97CE-4BACBE843619}"/>
              </a:ext>
            </a:extLst>
          </p:cNvPr>
          <p:cNvSpPr>
            <a:spLocks noGrp="1"/>
          </p:cNvSpPr>
          <p:nvPr>
            <p:ph type="title"/>
          </p:nvPr>
        </p:nvSpPr>
        <p:spPr/>
        <p:txBody>
          <a:bodyPr/>
          <a:lstStyle/>
          <a:p>
            <a:r>
              <a:rPr lang="en-US" sz="3200" b="1" u="sng">
                <a:effectLst/>
                <a:latin typeface="Arial" panose="020B0604020202020204" pitchFamily="34" charset="0"/>
                <a:ea typeface="Calibri" panose="020F0502020204030204" pitchFamily="34" charset="0"/>
              </a:rPr>
              <a:t>Fixed Wing Aircraft</a:t>
            </a:r>
            <a:br>
              <a:rPr lang="en-US" sz="3200" b="1" u="sng">
                <a:effectLst/>
                <a:latin typeface="Arial" panose="020B060402020202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F912A1CE-693C-4AFF-AFF7-C5871BC291AC}"/>
              </a:ext>
            </a:extLst>
          </p:cNvPr>
          <p:cNvSpPr>
            <a:spLocks noGrp="1"/>
          </p:cNvSpPr>
          <p:nvPr>
            <p:ph idx="1"/>
          </p:nvPr>
        </p:nvSpPr>
        <p:spPr/>
        <p:txBody>
          <a:bodyPr/>
          <a:lstStyle/>
          <a:p>
            <a:r>
              <a:rPr lang="en-US" b="1" u="sng" dirty="0"/>
              <a:t>Fighter Aircraft</a:t>
            </a:r>
            <a:r>
              <a:rPr lang="en-US" dirty="0"/>
              <a:t>	Often referred to simply as a fighter, is a military fixed-wing aircraft designed primarily for air-to-air combat against other aircraft. </a:t>
            </a:r>
            <a:endParaRPr lang="en-IN" dirty="0"/>
          </a:p>
        </p:txBody>
      </p:sp>
      <p:pic>
        <p:nvPicPr>
          <p:cNvPr id="4" name="Picture 3" descr="Endangered species: Our Top 10 rare military aircraft | News | Flight Global">
            <a:extLst>
              <a:ext uri="{FF2B5EF4-FFF2-40B4-BE49-F238E27FC236}">
                <a16:creationId xmlns:a16="http://schemas.microsoft.com/office/drawing/2014/main" id="{74DA4745-7DB2-4812-BF06-474C87936A6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161040" y="3067050"/>
            <a:ext cx="4813935" cy="2724150"/>
          </a:xfrm>
          <a:prstGeom prst="rect">
            <a:avLst/>
          </a:prstGeom>
          <a:noFill/>
          <a:ln>
            <a:noFill/>
          </a:ln>
        </p:spPr>
      </p:pic>
    </p:spTree>
    <p:extLst>
      <p:ext uri="{BB962C8B-B14F-4D97-AF65-F5344CB8AC3E}">
        <p14:creationId xmlns:p14="http://schemas.microsoft.com/office/powerpoint/2010/main" val="3192215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C9878-FDA1-42E5-9A18-39DFAE7E6770}"/>
              </a:ext>
            </a:extLst>
          </p:cNvPr>
          <p:cNvSpPr>
            <a:spLocks noGrp="1"/>
          </p:cNvSpPr>
          <p:nvPr>
            <p:ph type="title"/>
          </p:nvPr>
        </p:nvSpPr>
        <p:spPr/>
        <p:txBody>
          <a:bodyPr/>
          <a:lstStyle/>
          <a:p>
            <a:r>
              <a:rPr lang="en-US" sz="3200" b="1" u="sng" dirty="0">
                <a:effectLst/>
                <a:latin typeface="Arial" panose="020B0604020202020204" pitchFamily="34" charset="0"/>
                <a:ea typeface="Calibri" panose="020F0502020204030204" pitchFamily="34" charset="0"/>
              </a:rPr>
              <a:t>Fixed Wing Aircraft</a:t>
            </a:r>
            <a:br>
              <a:rPr lang="en-US" sz="3200" b="1" u="sng" dirty="0">
                <a:effectLst/>
                <a:latin typeface="Arial" panose="020B060402020202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FB7DF426-86B2-4037-91FE-58DE6ACD65A0}"/>
              </a:ext>
            </a:extLst>
          </p:cNvPr>
          <p:cNvSpPr>
            <a:spLocks noGrp="1"/>
          </p:cNvSpPr>
          <p:nvPr>
            <p:ph idx="1"/>
          </p:nvPr>
        </p:nvSpPr>
        <p:spPr/>
        <p:txBody>
          <a:bodyPr/>
          <a:lstStyle/>
          <a:p>
            <a:r>
              <a:rPr lang="en-IN" b="1" u="sng" dirty="0"/>
              <a:t>Passenger Aircraft</a:t>
            </a:r>
            <a:r>
              <a:rPr lang="en-US" dirty="0"/>
              <a:t>	     Such aircraft are most often operated by airlines. Although the definition of an airliner can vary from country to country, an airliner is typically defined as an airplane intended for carrying multiple passengers or cargo in commercial service. </a:t>
            </a:r>
            <a:endParaRPr lang="en-IN" dirty="0"/>
          </a:p>
        </p:txBody>
      </p:sp>
      <p:pic>
        <p:nvPicPr>
          <p:cNvPr id="4" name="Picture 3" descr="Fixed-wing aircraft - Wikipedia">
            <a:extLst>
              <a:ext uri="{FF2B5EF4-FFF2-40B4-BE49-F238E27FC236}">
                <a16:creationId xmlns:a16="http://schemas.microsoft.com/office/drawing/2014/main" id="{6B72C481-DD1B-44D5-A6B5-F5E6E7F8D33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3276600"/>
            <a:ext cx="4820920" cy="2674740"/>
          </a:xfrm>
          <a:prstGeom prst="rect">
            <a:avLst/>
          </a:prstGeom>
          <a:noFill/>
          <a:ln>
            <a:noFill/>
          </a:ln>
        </p:spPr>
      </p:pic>
    </p:spTree>
    <p:extLst>
      <p:ext uri="{BB962C8B-B14F-4D97-AF65-F5344CB8AC3E}">
        <p14:creationId xmlns:p14="http://schemas.microsoft.com/office/powerpoint/2010/main" val="3529817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950BD-F17B-4EEA-8366-D13229B85800}"/>
              </a:ext>
            </a:extLst>
          </p:cNvPr>
          <p:cNvSpPr>
            <a:spLocks noGrp="1"/>
          </p:cNvSpPr>
          <p:nvPr>
            <p:ph type="title"/>
          </p:nvPr>
        </p:nvSpPr>
        <p:spPr/>
        <p:txBody>
          <a:bodyPr/>
          <a:lstStyle/>
          <a:p>
            <a:r>
              <a:rPr lang="en-US" sz="3200" b="1" u="sng" dirty="0">
                <a:effectLst/>
                <a:latin typeface="Arial" panose="020B0604020202020204" pitchFamily="34" charset="0"/>
                <a:ea typeface="Calibri" panose="020F0502020204030204" pitchFamily="34" charset="0"/>
              </a:rPr>
              <a:t>Fixed Wing Aircraft</a:t>
            </a:r>
            <a:br>
              <a:rPr lang="en-US" sz="3200" b="1" u="sng" dirty="0">
                <a:effectLst/>
                <a:latin typeface="Arial" panose="020B060402020202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86DA8FD4-380F-43BC-8A38-4D03DF8B7107}"/>
              </a:ext>
            </a:extLst>
          </p:cNvPr>
          <p:cNvSpPr>
            <a:spLocks noGrp="1"/>
          </p:cNvSpPr>
          <p:nvPr>
            <p:ph idx="1"/>
          </p:nvPr>
        </p:nvSpPr>
        <p:spPr/>
        <p:txBody>
          <a:bodyPr/>
          <a:lstStyle/>
          <a:p>
            <a:r>
              <a:rPr lang="en-US" b="1" u="sng" dirty="0"/>
              <a:t>Cargo Aircraft</a:t>
            </a:r>
            <a:r>
              <a:rPr lang="en-US" dirty="0"/>
              <a:t>	A cargo aircraft (also known as freight aircraft, freighter, airlifter or cargo jet) is a fixed-wing aircraft that is designed or converted for the carriage of cargo rather than passengers. Such aircraft usually do not incorporate passenger amenities and generally feature one or more large doors for loading cargo. Freighters may be operated by civil passenger or cargo airlines, by private individuals or by the armed forces of individual countries.</a:t>
            </a:r>
            <a:endParaRPr lang="en-IN" dirty="0"/>
          </a:p>
        </p:txBody>
      </p:sp>
      <p:pic>
        <p:nvPicPr>
          <p:cNvPr id="4" name="Picture 3" descr="Military transport aircraft - Wikipedia">
            <a:extLst>
              <a:ext uri="{FF2B5EF4-FFF2-40B4-BE49-F238E27FC236}">
                <a16:creationId xmlns:a16="http://schemas.microsoft.com/office/drawing/2014/main" id="{1BD12BED-1AE8-4A74-9451-E2A99A4CD0C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4050996"/>
            <a:ext cx="4572000" cy="2197401"/>
          </a:xfrm>
          <a:prstGeom prst="rect">
            <a:avLst/>
          </a:prstGeom>
          <a:noFill/>
          <a:ln>
            <a:noFill/>
          </a:ln>
        </p:spPr>
      </p:pic>
    </p:spTree>
    <p:extLst>
      <p:ext uri="{BB962C8B-B14F-4D97-AF65-F5344CB8AC3E}">
        <p14:creationId xmlns:p14="http://schemas.microsoft.com/office/powerpoint/2010/main" val="1369978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51F2-91E1-437C-8068-D43C548B1379}"/>
              </a:ext>
            </a:extLst>
          </p:cNvPr>
          <p:cNvSpPr>
            <a:spLocks noGrp="1"/>
          </p:cNvSpPr>
          <p:nvPr>
            <p:ph type="title"/>
          </p:nvPr>
        </p:nvSpPr>
        <p:spPr/>
        <p:txBody>
          <a:bodyPr/>
          <a:lstStyle/>
          <a:p>
            <a:r>
              <a:rPr lang="en-IN" dirty="0"/>
              <a:t>Rotary Wing Aircraft</a:t>
            </a:r>
          </a:p>
        </p:txBody>
      </p:sp>
      <p:sp>
        <p:nvSpPr>
          <p:cNvPr id="3" name="Content Placeholder 2">
            <a:extLst>
              <a:ext uri="{FF2B5EF4-FFF2-40B4-BE49-F238E27FC236}">
                <a16:creationId xmlns:a16="http://schemas.microsoft.com/office/drawing/2014/main" id="{AFA948AB-A6BD-451F-B3CC-316481DA48C4}"/>
              </a:ext>
            </a:extLst>
          </p:cNvPr>
          <p:cNvSpPr>
            <a:spLocks noGrp="1"/>
          </p:cNvSpPr>
          <p:nvPr>
            <p:ph idx="1"/>
          </p:nvPr>
        </p:nvSpPr>
        <p:spPr/>
        <p:txBody>
          <a:bodyPr/>
          <a:lstStyle/>
          <a:p>
            <a:r>
              <a:rPr lang="en-US" dirty="0"/>
              <a:t>A rotor wing is a lifting rotor or wing which spins to provide aerodynamic lift. In general, a rotor may spin about an axis which is aligned substantially either vertically or side-to-side (spanwise). All three classes have been studied for use as lifting rotors and several variations have been flown on full-size aircraft, although only the vertical-axis rotary wing has become widespread on rotorcraft such as the helicopter.</a:t>
            </a:r>
            <a:endParaRPr lang="en-IN" dirty="0"/>
          </a:p>
        </p:txBody>
      </p:sp>
    </p:spTree>
    <p:extLst>
      <p:ext uri="{BB962C8B-B14F-4D97-AF65-F5344CB8AC3E}">
        <p14:creationId xmlns:p14="http://schemas.microsoft.com/office/powerpoint/2010/main" val="1122476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AFC02-DDBF-4F30-BF35-8F70A4C1838F}"/>
              </a:ext>
            </a:extLst>
          </p:cNvPr>
          <p:cNvSpPr>
            <a:spLocks noGrp="1"/>
          </p:cNvSpPr>
          <p:nvPr>
            <p:ph type="title"/>
          </p:nvPr>
        </p:nvSpPr>
        <p:spPr/>
        <p:txBody>
          <a:bodyPr/>
          <a:lstStyle/>
          <a:p>
            <a:r>
              <a:rPr lang="en-IN" dirty="0"/>
              <a:t>Rotary Wing Aircraft</a:t>
            </a:r>
          </a:p>
        </p:txBody>
      </p:sp>
      <p:sp>
        <p:nvSpPr>
          <p:cNvPr id="3" name="Content Placeholder 2">
            <a:extLst>
              <a:ext uri="{FF2B5EF4-FFF2-40B4-BE49-F238E27FC236}">
                <a16:creationId xmlns:a16="http://schemas.microsoft.com/office/drawing/2014/main" id="{151535A4-C200-4AD6-B1EA-5AE4CF747D1B}"/>
              </a:ext>
            </a:extLst>
          </p:cNvPr>
          <p:cNvSpPr>
            <a:spLocks noGrp="1"/>
          </p:cNvSpPr>
          <p:nvPr>
            <p:ph idx="1"/>
          </p:nvPr>
        </p:nvSpPr>
        <p:spPr/>
        <p:txBody>
          <a:bodyPr/>
          <a:lstStyle/>
          <a:p>
            <a:r>
              <a:rPr lang="en-US" b="1" u="sng" dirty="0"/>
              <a:t>Light Helicopter</a:t>
            </a:r>
            <a:r>
              <a:rPr lang="en-US" dirty="0"/>
              <a:t>	The Light Helicopter along with its light derivative is used for civilian and military applications like search and rescue. </a:t>
            </a:r>
            <a:endParaRPr lang="en-IN" dirty="0"/>
          </a:p>
        </p:txBody>
      </p:sp>
      <p:pic>
        <p:nvPicPr>
          <p:cNvPr id="4" name="Picture 3" descr="upload.wikimedia.org/wikipedia/commons/1/16/A_H...">
            <a:extLst>
              <a:ext uri="{FF2B5EF4-FFF2-40B4-BE49-F238E27FC236}">
                <a16:creationId xmlns:a16="http://schemas.microsoft.com/office/drawing/2014/main" id="{863394EB-153C-468F-AE7B-28D836CFD19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20108" y="2971800"/>
            <a:ext cx="4495800" cy="2403475"/>
          </a:xfrm>
          <a:prstGeom prst="rect">
            <a:avLst/>
          </a:prstGeom>
          <a:noFill/>
          <a:ln>
            <a:noFill/>
          </a:ln>
        </p:spPr>
      </p:pic>
    </p:spTree>
    <p:extLst>
      <p:ext uri="{BB962C8B-B14F-4D97-AF65-F5344CB8AC3E}">
        <p14:creationId xmlns:p14="http://schemas.microsoft.com/office/powerpoint/2010/main" val="3238254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86DD2-0879-4597-8299-8E99324E4CB2}"/>
              </a:ext>
            </a:extLst>
          </p:cNvPr>
          <p:cNvSpPr>
            <a:spLocks noGrp="1"/>
          </p:cNvSpPr>
          <p:nvPr>
            <p:ph type="title"/>
          </p:nvPr>
        </p:nvSpPr>
        <p:spPr/>
        <p:txBody>
          <a:bodyPr/>
          <a:lstStyle/>
          <a:p>
            <a:r>
              <a:rPr lang="en-IN" dirty="0"/>
              <a:t>Rotary Wing Aircraft</a:t>
            </a:r>
          </a:p>
        </p:txBody>
      </p:sp>
      <p:sp>
        <p:nvSpPr>
          <p:cNvPr id="3" name="Content Placeholder 2">
            <a:extLst>
              <a:ext uri="{FF2B5EF4-FFF2-40B4-BE49-F238E27FC236}">
                <a16:creationId xmlns:a16="http://schemas.microsoft.com/office/drawing/2014/main" id="{45C3711A-B1A3-4410-8A80-F311CBF92E10}"/>
              </a:ext>
            </a:extLst>
          </p:cNvPr>
          <p:cNvSpPr>
            <a:spLocks noGrp="1"/>
          </p:cNvSpPr>
          <p:nvPr>
            <p:ph idx="1"/>
          </p:nvPr>
        </p:nvSpPr>
        <p:spPr/>
        <p:txBody>
          <a:bodyPr/>
          <a:lstStyle/>
          <a:p>
            <a:r>
              <a:rPr lang="en-US" b="1" u="sng" dirty="0"/>
              <a:t>Passenger Helicopter</a:t>
            </a:r>
            <a:r>
              <a:rPr lang="en-US" dirty="0"/>
              <a:t>	It belongs to the super medium class of helicopters, and addresses several missions, including:</a:t>
            </a:r>
          </a:p>
          <a:p>
            <a:r>
              <a:rPr lang="en-US" dirty="0"/>
              <a:t>Offshore crew change</a:t>
            </a:r>
          </a:p>
          <a:p>
            <a:r>
              <a:rPr lang="en-US" dirty="0"/>
              <a:t>Law enforcement</a:t>
            </a:r>
          </a:p>
          <a:p>
            <a:r>
              <a:rPr lang="en-US" dirty="0"/>
              <a:t>Search and rescue</a:t>
            </a:r>
          </a:p>
          <a:p>
            <a:r>
              <a:rPr lang="en-US" dirty="0"/>
              <a:t>Helicopter emergency medical services (HEMS)</a:t>
            </a:r>
          </a:p>
          <a:p>
            <a:r>
              <a:rPr lang="en-US" dirty="0"/>
              <a:t>Private and business aviation</a:t>
            </a:r>
          </a:p>
          <a:p>
            <a:endParaRPr lang="en-IN" dirty="0"/>
          </a:p>
        </p:txBody>
      </p:sp>
      <p:pic>
        <p:nvPicPr>
          <p:cNvPr id="4" name="Picture 3" descr="Passenger helicopters - YouTube">
            <a:extLst>
              <a:ext uri="{FF2B5EF4-FFF2-40B4-BE49-F238E27FC236}">
                <a16:creationId xmlns:a16="http://schemas.microsoft.com/office/drawing/2014/main" id="{A34A30F5-013F-4EA7-839C-E18C83AFEBF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9200" y="2840319"/>
            <a:ext cx="3985260" cy="2206625"/>
          </a:xfrm>
          <a:prstGeom prst="rect">
            <a:avLst/>
          </a:prstGeom>
          <a:noFill/>
          <a:ln>
            <a:noFill/>
          </a:ln>
        </p:spPr>
      </p:pic>
    </p:spTree>
    <p:extLst>
      <p:ext uri="{BB962C8B-B14F-4D97-AF65-F5344CB8AC3E}">
        <p14:creationId xmlns:p14="http://schemas.microsoft.com/office/powerpoint/2010/main" val="2759447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DB88A-07CC-44AA-B630-83DE6FD1FBE0}"/>
              </a:ext>
            </a:extLst>
          </p:cNvPr>
          <p:cNvSpPr>
            <a:spLocks noGrp="1"/>
          </p:cNvSpPr>
          <p:nvPr>
            <p:ph type="title"/>
          </p:nvPr>
        </p:nvSpPr>
        <p:spPr/>
        <p:txBody>
          <a:bodyPr/>
          <a:lstStyle/>
          <a:p>
            <a:r>
              <a:rPr lang="en-IN"/>
              <a:t>Rotary Wing Aircraft</a:t>
            </a:r>
            <a:endParaRPr lang="en-IN" dirty="0"/>
          </a:p>
        </p:txBody>
      </p:sp>
      <p:sp>
        <p:nvSpPr>
          <p:cNvPr id="3" name="Content Placeholder 2">
            <a:extLst>
              <a:ext uri="{FF2B5EF4-FFF2-40B4-BE49-F238E27FC236}">
                <a16:creationId xmlns:a16="http://schemas.microsoft.com/office/drawing/2014/main" id="{B9CEE5F2-2AE6-47FC-AFA1-F72F41BE8104}"/>
              </a:ext>
            </a:extLst>
          </p:cNvPr>
          <p:cNvSpPr>
            <a:spLocks noGrp="1"/>
          </p:cNvSpPr>
          <p:nvPr>
            <p:ph idx="1"/>
          </p:nvPr>
        </p:nvSpPr>
        <p:spPr/>
        <p:txBody>
          <a:bodyPr/>
          <a:lstStyle/>
          <a:p>
            <a:r>
              <a:rPr lang="en-IN" sz="1800" b="1" u="sng" dirty="0">
                <a:effectLst/>
                <a:latin typeface="Arial" panose="020B0604020202020204" pitchFamily="34" charset="0"/>
                <a:ea typeface="Calibri" panose="020F0502020204030204" pitchFamily="34" charset="0"/>
              </a:rPr>
              <a:t>Cargo Helicopter</a:t>
            </a:r>
            <a:r>
              <a:rPr lang="en-IN" sz="1800" dirty="0">
                <a:effectLst/>
                <a:latin typeface="Arial" panose="020B0604020202020204" pitchFamily="34" charset="0"/>
                <a:ea typeface="Calibri" panose="020F0502020204030204" pitchFamily="34" charset="0"/>
              </a:rPr>
              <a:t> Cargo is carried either internally, or externally by slung load where the load is suspended from an attachment point underneath the aircraft. Personnel are primarily loaded and unloaded while the helicopter is on the ground. </a:t>
            </a:r>
          </a:p>
          <a:p>
            <a:endParaRPr lang="en-IN" dirty="0"/>
          </a:p>
        </p:txBody>
      </p:sp>
      <p:pic>
        <p:nvPicPr>
          <p:cNvPr id="5" name="Picture 4" descr="cargo helicopter - Pesquisa Google | Airplane fighter, Helicopter,  Helicopter price">
            <a:extLst>
              <a:ext uri="{FF2B5EF4-FFF2-40B4-BE49-F238E27FC236}">
                <a16:creationId xmlns:a16="http://schemas.microsoft.com/office/drawing/2014/main" id="{A45AA464-B713-484C-AAF9-13440BB6F7B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78553" y="3525765"/>
            <a:ext cx="3978910" cy="2759075"/>
          </a:xfrm>
          <a:prstGeom prst="rect">
            <a:avLst/>
          </a:prstGeom>
          <a:noFill/>
          <a:ln>
            <a:noFill/>
          </a:ln>
        </p:spPr>
      </p:pic>
    </p:spTree>
    <p:extLst>
      <p:ext uri="{BB962C8B-B14F-4D97-AF65-F5344CB8AC3E}">
        <p14:creationId xmlns:p14="http://schemas.microsoft.com/office/powerpoint/2010/main" val="4019403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a:pPr>
            <a:endParaRPr lang="en-IN" dirty="0"/>
          </a:p>
        </p:txBody>
      </p:sp>
      <p:sp>
        <p:nvSpPr>
          <p:cNvPr id="105475" name="Subtitle 2"/>
          <p:cNvSpPr>
            <a:spLocks noGrp="1"/>
          </p:cNvSpPr>
          <p:nvPr>
            <p:ph type="subTitle" idx="1"/>
          </p:nvPr>
        </p:nvSpPr>
        <p:spPr/>
        <p:txBody>
          <a:bodyPr/>
          <a:lstStyle/>
          <a:p>
            <a:endParaRPr lang="en-IN" altLang="en-US" dirty="0"/>
          </a:p>
        </p:txBody>
      </p:sp>
      <p:pic>
        <p:nvPicPr>
          <p:cNvPr id="105476" name="Picture 2" descr="1 (39)"/>
          <p:cNvPicPr>
            <a:picLocks noChangeAspect="1" noChangeArrowheads="1"/>
          </p:cNvPicPr>
          <p:nvPr/>
        </p:nvPicPr>
        <p:blipFill>
          <a:blip r:embed="rId3" cstate="print"/>
          <a:srcRect l="6977" t="6977"/>
          <a:stretch>
            <a:fillRect/>
          </a:stretch>
        </p:blipFill>
        <p:spPr bwMode="auto">
          <a:xfrm>
            <a:off x="0" y="0"/>
            <a:ext cx="9144000" cy="6858000"/>
          </a:xfrm>
          <a:prstGeom prst="rect">
            <a:avLst/>
          </a:prstGeom>
          <a:noFill/>
          <a:ln w="9525">
            <a:noFill/>
            <a:miter lim="800000"/>
            <a:headEnd/>
            <a:tailEnd/>
          </a:ln>
        </p:spPr>
      </p:pic>
      <p:sp>
        <p:nvSpPr>
          <p:cNvPr id="5" name="Footer Placeholder 4"/>
          <p:cNvSpPr txBox="1">
            <a:spLocks/>
          </p:cNvSpPr>
          <p:nvPr/>
        </p:nvSpPr>
        <p:spPr bwMode="auto">
          <a:xfrm>
            <a:off x="0" y="5829300"/>
            <a:ext cx="9144000" cy="102870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685800" eaLnBrk="1" latinLnBrk="0" hangingPunct="1">
              <a:lnSpc>
                <a:spcPct val="90000"/>
              </a:lnSpc>
              <a:buNone/>
              <a:defRPr sz="3200" b="1" i="0" u="sng" cap="all">
                <a:solidFill>
                  <a:srgbClr val="FFFF00"/>
                </a:solidFill>
                <a:effectLst>
                  <a:outerShdw blurRad="50800" dist="63500" dir="2700000" algn="tl" rotWithShape="0">
                    <a:srgbClr val="000000">
                      <a:alpha val="48000"/>
                    </a:srgbClr>
                  </a:outerShdw>
                </a:effectLst>
                <a:latin typeface="Arial" panose="020B0604020202020204" pitchFamily="34" charset="0"/>
                <a:ea typeface="+mj-ea"/>
                <a:cs typeface="Arial" panose="020B0604020202020204" pitchFamily="34" charset="0"/>
              </a:defRPr>
            </a:lvl1pPr>
          </a:lstStyle>
          <a:p>
            <a:r>
              <a:rPr lang="en-US" altLang="en-US" sz="6600" b="0" u="none" cap="none" dirty="0">
                <a:ln w="6350">
                  <a:noFill/>
                </a:ln>
                <a:solidFill>
                  <a:schemeClr val="tx1"/>
                </a:solidFill>
                <a:effectLst/>
                <a:latin typeface="Monotype Corsiva" panose="03010101010201010101" pitchFamily="66" charset="0"/>
                <a:ea typeface="+mn-ea"/>
              </a:rPr>
              <a:t>Thank You</a:t>
            </a:r>
          </a:p>
        </p:txBody>
      </p:sp>
      <p:pic>
        <p:nvPicPr>
          <p:cNvPr id="6" name="Picture 5"/>
          <p:cNvPicPr>
            <a:picLocks noChangeAspect="1" noChangeArrowheads="1"/>
          </p:cNvPicPr>
          <p:nvPr/>
        </p:nvPicPr>
        <p:blipFill>
          <a:blip r:embed="rId4" cstate="print">
            <a:clrChange>
              <a:clrFrom>
                <a:srgbClr val="FFFFFF"/>
              </a:clrFrom>
              <a:clrTo>
                <a:srgbClr val="FFFFFF">
                  <a:alpha val="0"/>
                </a:srgbClr>
              </a:clrTo>
            </a:clrChange>
          </a:blip>
          <a:srcRect l="59938" r="21135"/>
          <a:stretch>
            <a:fillRect/>
          </a:stretch>
        </p:blipFill>
        <p:spPr bwMode="auto">
          <a:xfrm rot="206801">
            <a:off x="6812928" y="372839"/>
            <a:ext cx="2298331" cy="1158374"/>
          </a:xfrm>
          <a:prstGeom prst="rect">
            <a:avLst/>
          </a:prstGeom>
          <a:noFill/>
          <a:ln w="9525">
            <a:noFill/>
            <a:miter lim="800000"/>
            <a:headEnd/>
            <a:tailEnd/>
          </a:ln>
        </p:spPr>
      </p:pic>
      <p:pic>
        <p:nvPicPr>
          <p:cNvPr id="7" name="Picture 4" descr="\\161.9.45.212\samba\IT Cell\p8i\p-8I.jpg"/>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rot="20415263">
            <a:off x="-163331" y="21373"/>
            <a:ext cx="3071907" cy="1372109"/>
          </a:xfrm>
          <a:prstGeom prst="rect">
            <a:avLst/>
          </a:prstGeom>
          <a:noFill/>
        </p:spPr>
      </p:pic>
      <p:pic>
        <p:nvPicPr>
          <p:cNvPr id="3" name="Picture 2">
            <a:extLst>
              <a:ext uri="{FF2B5EF4-FFF2-40B4-BE49-F238E27FC236}">
                <a16:creationId xmlns:a16="http://schemas.microsoft.com/office/drawing/2014/main" id="{188731E8-90B7-42A1-945F-B5A2BA24C23E}"/>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50313" y1="89746" x2="50313" y2="89746"/>
                      </a14:backgroundRemoval>
                    </a14:imgEffect>
                  </a14:imgLayer>
                </a14:imgProps>
              </a:ext>
            </a:extLst>
          </a:blip>
          <a:stretch>
            <a:fillRect/>
          </a:stretch>
        </p:blipFill>
        <p:spPr>
          <a:xfrm>
            <a:off x="165243" y="2823408"/>
            <a:ext cx="2333020" cy="2063272"/>
          </a:xfrm>
          <a:prstGeom prst="rect">
            <a:avLst/>
          </a:prstGeom>
        </p:spPr>
      </p:pic>
      <p:grpSp>
        <p:nvGrpSpPr>
          <p:cNvPr id="10" name="Group 9">
            <a:extLst>
              <a:ext uri="{FF2B5EF4-FFF2-40B4-BE49-F238E27FC236}">
                <a16:creationId xmlns:a16="http://schemas.microsoft.com/office/drawing/2014/main" id="{E5291B22-272B-441F-8309-C138E6871360}"/>
              </a:ext>
            </a:extLst>
          </p:cNvPr>
          <p:cNvGrpSpPr/>
          <p:nvPr/>
        </p:nvGrpSpPr>
        <p:grpSpPr>
          <a:xfrm>
            <a:off x="7532616" y="2873579"/>
            <a:ext cx="1524000" cy="1905000"/>
            <a:chOff x="7532616" y="2873579"/>
            <a:chExt cx="1524000" cy="1905000"/>
          </a:xfrm>
        </p:grpSpPr>
        <p:sp>
          <p:nvSpPr>
            <p:cNvPr id="4" name="Oval 3">
              <a:extLst>
                <a:ext uri="{FF2B5EF4-FFF2-40B4-BE49-F238E27FC236}">
                  <a16:creationId xmlns:a16="http://schemas.microsoft.com/office/drawing/2014/main" id="{EC267BFB-14BA-4766-B830-FE08BF20446C}"/>
                </a:ext>
              </a:extLst>
            </p:cNvPr>
            <p:cNvSpPr/>
            <p:nvPr/>
          </p:nvSpPr>
          <p:spPr>
            <a:xfrm>
              <a:off x="7772400" y="3336329"/>
              <a:ext cx="990600" cy="100727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2" descr="\\161.9.45.212\samba\IT Cell\niat log.jpg"/>
            <p:cNvPicPr>
              <a:picLocks noChangeAspect="1" noChangeArrowheads="1"/>
            </p:cNvPicPr>
            <p:nvPr/>
          </p:nvPicPr>
          <p:blipFill>
            <a:blip r:embed="rId8" cstate="print">
              <a:clrChange>
                <a:clrFrom>
                  <a:srgbClr val="FDFDFD"/>
                </a:clrFrom>
                <a:clrTo>
                  <a:srgbClr val="FDFDFD">
                    <a:alpha val="0"/>
                  </a:srgbClr>
                </a:clrTo>
              </a:clrChange>
            </a:blip>
            <a:stretch>
              <a:fillRect/>
            </a:stretch>
          </p:blipFill>
          <p:spPr bwMode="auto">
            <a:xfrm>
              <a:off x="7532616" y="2873579"/>
              <a:ext cx="1524000" cy="1905000"/>
            </a:xfrm>
            <a:prstGeom prst="rect">
              <a:avLst/>
            </a:prstGeom>
            <a:noFill/>
            <a:ln>
              <a:noFill/>
            </a:ln>
          </p:spPr>
        </p:pic>
      </p:grpSp>
    </p:spTree>
    <p:extLst>
      <p:ext uri="{BB962C8B-B14F-4D97-AF65-F5344CB8AC3E}">
        <p14:creationId xmlns:p14="http://schemas.microsoft.com/office/powerpoint/2010/main" val="29564864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481</Words>
  <Application>Microsoft Office PowerPoint</Application>
  <PresentationFormat>On-screen Show (4:3)</PresentationFormat>
  <Paragraphs>34</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Monotype Corsiva</vt:lpstr>
      <vt:lpstr>Rockwell</vt:lpstr>
      <vt:lpstr>Damask</vt:lpstr>
      <vt:lpstr>Introduction to aeronautics and classification of aircrafts</vt:lpstr>
      <vt:lpstr>PowerPoint Presentation</vt:lpstr>
      <vt:lpstr>CONFIGURATION OF VARIOUS TYPES OF AIRCRAFTS</vt:lpstr>
      <vt:lpstr>Fixed Wing Aircraft </vt:lpstr>
      <vt:lpstr>Fixed Wing Aircraft </vt:lpstr>
      <vt:lpstr>Fixed Wing Aircraft </vt:lpstr>
      <vt:lpstr>Fixed Wing Aircraft </vt:lpstr>
      <vt:lpstr>Rotary Wing Aircraft</vt:lpstr>
      <vt:lpstr>Rotary Wing Aircraft</vt:lpstr>
      <vt:lpstr>Rotary Wing Aircraft</vt:lpstr>
      <vt:lpstr>Rotary Wing Aircraft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Reynold’s number and boundary layers</dc:title>
  <dc:creator>Rishabh Upadhyay</dc:creator>
  <cp:lastModifiedBy>Prakash Pujari</cp:lastModifiedBy>
  <cp:revision>8</cp:revision>
  <dcterms:created xsi:type="dcterms:W3CDTF">2020-10-29T12:52:27Z</dcterms:created>
  <dcterms:modified xsi:type="dcterms:W3CDTF">2020-11-02T03:38:33Z</dcterms:modified>
</cp:coreProperties>
</file>