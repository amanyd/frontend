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841" r:id="rId2"/>
    <p:sldId id="2744" r:id="rId3"/>
    <p:sldId id="2910" r:id="rId4"/>
    <p:sldId id="2871" r:id="rId5"/>
    <p:sldId id="2881" r:id="rId6"/>
    <p:sldId id="2882" r:id="rId7"/>
    <p:sldId id="2929" r:id="rId8"/>
    <p:sldId id="2930" r:id="rId9"/>
    <p:sldId id="2869" r:id="rId10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nc-niat-aloff2 : Cdr Saju Unnikrishnan" initials="s:CSU" lastIdx="3" clrIdx="0"/>
  <p:cmAuthor id="2" name="Vyshnav Vasanthakumar" initials="VV" lastIdx="2" clrIdx="1"/>
  <p:cmAuthor id="3" name="kodanda Ram" initials="kR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8EA"/>
    <a:srgbClr val="1D035D"/>
    <a:srgbClr val="800000"/>
    <a:srgbClr val="BFBFBF"/>
    <a:srgbClr val="45ADF8"/>
    <a:srgbClr val="101406"/>
    <a:srgbClr val="077ACC"/>
    <a:srgbClr val="262626"/>
    <a:srgbClr val="011829"/>
    <a:srgbClr val="0941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962" autoAdjust="0"/>
    <p:restoredTop sz="78109" autoAdjust="0"/>
  </p:normalViewPr>
  <p:slideViewPr>
    <p:cSldViewPr>
      <p:cViewPr varScale="1">
        <p:scale>
          <a:sx n="67" d="100"/>
          <a:sy n="67" d="100"/>
        </p:scale>
        <p:origin x="157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325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263C4A7-9AF9-42DE-A4BA-ACF0DFE46770}" type="datetime1">
              <a:rPr lang="en-US"/>
              <a:t>11/2/2020</a:t>
            </a:fld>
            <a:endParaRPr lang="en-US" dirty="0"/>
          </a:p>
        </p:txBody>
      </p:sp>
      <p:sp>
        <p:nvSpPr>
          <p:cNvPr id="153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53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CC0FF926-919E-459A-AEE7-AE5DCD4A53CC}" type="slidenum">
              <a:rPr lang="en-US" altLang="en-US"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71B1FA0-B2F0-4D41-8F1F-B9F3A884F08A}" type="datetime1">
              <a:rPr lang="en-US"/>
              <a:t>11/2/2020</a:t>
            </a:fld>
            <a:endParaRPr lang="en-US" dirty="0"/>
          </a:p>
        </p:txBody>
      </p:sp>
      <p:sp>
        <p:nvSpPr>
          <p:cNvPr id="1065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9788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088" y="4416425"/>
            <a:ext cx="5610225" cy="41830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F4E9F80D-8D67-4506-ACA6-574195915E76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171B1FA0-B2F0-4D41-8F1F-B9F3A884F08A}" type="datetime1">
              <a:rPr lang="en-US" smtClean="0"/>
              <a:t>11/2/2020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F4E9F80D-8D67-4506-ACA6-574195915E76}" type="slidenum">
              <a:rPr lang="en-US" altLang="en-US" smtClean="0"/>
              <a:t>1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just">
              <a:buFontTx/>
              <a:buChar char="-"/>
            </a:pPr>
            <a:r>
              <a:rPr lang="en-US" sz="1100" b="0" dirty="0"/>
              <a:t>Pressure is the normal force per unit area exerted on a surface due to time rate of </a:t>
            </a:r>
            <a:r>
              <a:rPr lang="en-US" sz="1100" b="1" u="sng" dirty="0">
                <a:solidFill>
                  <a:srgbClr val="FF0000"/>
                </a:solidFill>
              </a:rPr>
              <a:t>cane</a:t>
            </a:r>
            <a:r>
              <a:rPr lang="en-US" sz="1100" b="0" dirty="0"/>
              <a:t> of momentum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171B1FA0-B2F0-4D41-8F1F-B9F3A884F08A}" type="datetime1">
              <a:rPr lang="en-US" smtClean="0"/>
              <a:t>11/2/2020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F4E9F80D-8D67-4506-ACA6-574195915E76}" type="slidenum">
              <a:rPr lang="en-US" altLang="en-US" smtClean="0"/>
              <a:t>2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dA</a:t>
            </a:r>
            <a:r>
              <a:rPr lang="en-US" dirty="0"/>
              <a:t> is incremental area</a:t>
            </a:r>
          </a:p>
          <a:p>
            <a:r>
              <a:rPr lang="en-US" dirty="0"/>
              <a:t> </a:t>
            </a:r>
            <a:r>
              <a:rPr lang="en-US" dirty="0" err="1"/>
              <a:t>dF</a:t>
            </a:r>
            <a:r>
              <a:rPr lang="en-US" dirty="0"/>
              <a:t> is incremental Force at point B</a:t>
            </a:r>
            <a:endParaRPr lang="hi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171B1FA0-B2F0-4D41-8F1F-B9F3A884F08A}" type="datetime1">
              <a:rPr lang="en-US" smtClean="0"/>
              <a:t>11/2/2020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E9F80D-8D67-4506-ACA6-574195915E76}" type="slidenum">
              <a:rPr lang="en-US" altLang="en-US" smtClean="0"/>
              <a:t>3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just">
              <a:buFontTx/>
              <a:buChar char="-"/>
            </a:pPr>
            <a:r>
              <a:rPr lang="en-US" sz="1100" b="0" dirty="0"/>
              <a:t>The actual pressure within the atmosphere differs and depends on location, temperature etc.</a:t>
            </a:r>
          </a:p>
          <a:p>
            <a:pPr marL="171450" indent="-171450" algn="just">
              <a:buFontTx/>
              <a:buChar char="-"/>
            </a:pPr>
            <a:r>
              <a:rPr lang="en-US" sz="1100" b="0" dirty="0"/>
              <a:t> atmospheric pressure at mean sea level is 1.013X10^5 N/m2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171B1FA0-B2F0-4D41-8F1F-B9F3A884F08A}" type="datetime1">
              <a:rPr lang="en-US" smtClean="0"/>
              <a:t>11/2/2020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F4E9F80D-8D67-4506-ACA6-574195915E76}" type="slidenum">
              <a:rPr lang="en-US" altLang="en-US" smtClean="0"/>
              <a:t>4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just">
              <a:buFontTx/>
              <a:buChar char="-"/>
            </a:pPr>
            <a:r>
              <a:rPr lang="en-US" sz="1100" b="0" dirty="0"/>
              <a:t>Density measured in K</a:t>
            </a:r>
            <a:r>
              <a:rPr lang="en-IN" sz="1100" dirty="0"/>
              <a:t>g/m3</a:t>
            </a:r>
            <a:endParaRPr lang="en-US" sz="1100" b="0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171B1FA0-B2F0-4D41-8F1F-B9F3A884F08A}" type="datetime1">
              <a:rPr lang="en-US" smtClean="0"/>
              <a:t>11/2/2020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F4E9F80D-8D67-4506-ACA6-574195915E76}" type="slidenum">
              <a:rPr lang="en-US" altLang="en-US" smtClean="0"/>
              <a:t>5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buFontTx/>
              <a:buNone/>
            </a:pPr>
            <a:r>
              <a:rPr lang="en-US" sz="1100" b="0"/>
              <a:t>Flow control (RTS &amp; CTS)</a:t>
            </a:r>
            <a:endParaRPr lang="en-US" sz="1100" b="0" dirty="0"/>
          </a:p>
          <a:p>
            <a:pPr marL="0" indent="0" algn="just">
              <a:buFontTx/>
              <a:buNone/>
            </a:pPr>
            <a:r>
              <a:rPr lang="en-US" sz="1100" b="0" dirty="0"/>
              <a:t>Error control Error free transmission(with ACK both + &amp; -)</a:t>
            </a:r>
          </a:p>
          <a:p>
            <a:pPr algn="just"/>
            <a:endParaRPr lang="en-US" sz="1100" b="0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171B1FA0-B2F0-4D41-8F1F-B9F3A884F08A}" type="datetime1">
              <a:rPr lang="en-US" smtClean="0"/>
              <a:t>11/2/2020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F4E9F80D-8D67-4506-ACA6-574195915E76}" type="slidenum">
              <a:rPr lang="en-US" altLang="en-US" smtClean="0"/>
              <a:t>6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81100" y="696913"/>
            <a:ext cx="4649788" cy="3486150"/>
          </a:xfrm>
        </p:spPr>
      </p:sp>
      <p:sp>
        <p:nvSpPr>
          <p:cNvPr id="16179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1796" name="Date Placeholder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C7840502-BD40-40C5-B552-080A68BDF7DB}" type="datetime1">
              <a:rPr lang="en-US" altLang="en-US" smtClean="0"/>
              <a:t>11/2/2020</a:t>
            </a:fld>
            <a:endParaRPr lang="en-US" altLang="en-US" dirty="0"/>
          </a:p>
        </p:txBody>
      </p:sp>
      <p:sp>
        <p:nvSpPr>
          <p:cNvPr id="16179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148771-33F7-40ED-94E3-30E7637A3336}" type="slidenum">
              <a:rPr lang="en-US" altLang="en-US"/>
              <a:t>9</a:t>
            </a:fld>
            <a:endParaRPr lang="en-US" altLang="en-US" dirty="0"/>
          </a:p>
        </p:txBody>
      </p:sp>
      <p:sp>
        <p:nvSpPr>
          <p:cNvPr id="161798" name="Footer Placeholder 5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161799" name="Header Placeholder 6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u="sng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 eaLnBrk="1" fontAlgn="auto" hangingPunct="1">
              <a:spcBef>
                <a:spcPts val="0"/>
              </a:spcBef>
              <a:spcAft>
                <a:spcPts val="0"/>
              </a:spcAft>
            </a:pPr>
            <a:fld id="{287BD2DA-379E-4C52-9863-ADDA0B5A5DB4}" type="datetime1">
              <a:rPr lang="en-US" smtClean="0">
                <a:solidFill>
                  <a:prstClr val="white">
                    <a:tint val="75000"/>
                  </a:prstClr>
                </a:solidFill>
                <a:latin typeface="Rockwell" panose="02060603020205020403"/>
              </a:rPr>
              <a:t>11/2/2020</a:t>
            </a:fld>
            <a:endParaRPr lang="en-US" dirty="0">
              <a:solidFill>
                <a:prstClr val="white">
                  <a:tint val="75000"/>
                </a:prstClr>
              </a:solidFill>
              <a:latin typeface="Rockwell" panose="02060603020205020403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prstClr val="white">
                  <a:tint val="75000"/>
                </a:prstClr>
              </a:solidFill>
              <a:latin typeface="Rockwell" panose="02060603020205020403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 eaLnBrk="1" fontAlgn="auto" hangingPunct="1">
              <a:spcBef>
                <a:spcPts val="0"/>
              </a:spcBef>
              <a:spcAft>
                <a:spcPts val="0"/>
              </a:spcAft>
            </a:pPr>
            <a:fld id="{6D22F896-40B5-4ADD-8801-0D06FADFA095}" type="slidenum">
              <a:rPr lang="en-US" smtClean="0">
                <a:solidFill>
                  <a:prstClr val="white">
                    <a:tint val="75000"/>
                  </a:prstClr>
                </a:solidFill>
                <a:latin typeface="Rockwell" panose="02060603020205020403"/>
              </a:rPr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  <a:latin typeface="Rockwell" panose="02060603020205020403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0" y="6400802"/>
            <a:ext cx="1447800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6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 cstate="print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8" y="609603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7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342900" eaLnBrk="1" fontAlgn="auto" hangingPunct="1">
              <a:spcBef>
                <a:spcPts val="0"/>
              </a:spcBef>
              <a:spcAft>
                <a:spcPts val="0"/>
              </a:spcAft>
            </a:pPr>
            <a:fld id="{48A87A34-81AB-432B-8DAE-1953F412C126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t>11/2/2020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8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342900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10" y="5883278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342900" eaLnBrk="1" fontAlgn="auto" hangingPunct="1">
              <a:spcBef>
                <a:spcPts val="0"/>
              </a:spcBef>
              <a:spcAft>
                <a:spcPts val="0"/>
              </a:spcAft>
            </a:pPr>
            <a:fld id="{6D22F896-40B5-4ADD-8801-0D06FADFA095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pic>
        <p:nvPicPr>
          <p:cNvPr id="7" name="Picture 6" descr="\\161.9.45.212\samba\new niat logo.jpg"/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FDFCFB"/>
              </a:clrFrom>
              <a:clrTo>
                <a:srgbClr val="FDFCFB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534400" y="0"/>
            <a:ext cx="609600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711095-588F-4F09-95DE-BC1CF9D33A9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0" y="-85578"/>
            <a:ext cx="1071563" cy="857250"/>
          </a:xfrm>
          <a:prstGeom prst="rect">
            <a:avLst/>
          </a:prstGeom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3200" b="1" i="0" u="sng" kern="1200" cap="all">
          <a:solidFill>
            <a:srgbClr val="FFFF00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9339" y="426279"/>
            <a:ext cx="7765321" cy="2426657"/>
          </a:xfrm>
        </p:spPr>
        <p:txBody>
          <a:bodyPr>
            <a:normAutofit/>
          </a:bodyPr>
          <a:lstStyle/>
          <a:p>
            <a:r>
              <a:rPr lang="en-IN" dirty="0">
                <a:effectLst/>
              </a:rPr>
              <a:t>pressure, atmospheric pressure, density, pressure head and forces on equilibrium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9512" y="4941168"/>
            <a:ext cx="47408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FF00"/>
                </a:solidFill>
              </a:rPr>
              <a:t>Presented by</a:t>
            </a:r>
            <a:r>
              <a:rPr lang="en-US" sz="2000" b="1" dirty="0">
                <a:solidFill>
                  <a:srgbClr val="FFFF00"/>
                </a:solidFill>
              </a:rPr>
              <a:t>:</a:t>
            </a:r>
            <a:endParaRPr lang="en-US" sz="2000" b="1" u="sng" dirty="0">
              <a:solidFill>
                <a:srgbClr val="FFFF00"/>
              </a:solidFill>
            </a:endParaRPr>
          </a:p>
          <a:p>
            <a:r>
              <a:rPr lang="en-US" sz="2000" b="1" dirty="0">
                <a:solidFill>
                  <a:srgbClr val="FFFF00"/>
                </a:solidFill>
              </a:rPr>
              <a:t>Asst. Comdt. P Kodanda Ram</a:t>
            </a:r>
            <a:endParaRPr lang="en-IN" sz="2000" b="1" dirty="0">
              <a:solidFill>
                <a:srgbClr val="FFFF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20336" y="4944576"/>
            <a:ext cx="3995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FF00"/>
                </a:solidFill>
              </a:rPr>
              <a:t>Vetted By</a:t>
            </a:r>
            <a:r>
              <a:rPr lang="en-US" sz="2000" b="1" dirty="0">
                <a:solidFill>
                  <a:srgbClr val="FFFF00"/>
                </a:solidFill>
              </a:rPr>
              <a:t>:</a:t>
            </a:r>
            <a:endParaRPr lang="en-US" sz="2000" b="1" u="sng" dirty="0">
              <a:solidFill>
                <a:srgbClr val="FFFF00"/>
              </a:solidFill>
            </a:endParaRPr>
          </a:p>
          <a:p>
            <a:r>
              <a:rPr lang="en-US" sz="2000" b="1" dirty="0">
                <a:solidFill>
                  <a:srgbClr val="FFFF00"/>
                </a:solidFill>
              </a:rPr>
              <a:t>Commander Vivek </a:t>
            </a:r>
            <a:r>
              <a:rPr lang="en-US" sz="2000" b="1" dirty="0" err="1">
                <a:solidFill>
                  <a:srgbClr val="FFFF00"/>
                </a:solidFill>
              </a:rPr>
              <a:t>Rathee</a:t>
            </a:r>
            <a:endParaRPr lang="en-IN" sz="2000" b="1" dirty="0">
              <a:solidFill>
                <a:srgbClr val="FFFF00"/>
              </a:solidFill>
            </a:endParaRPr>
          </a:p>
        </p:txBody>
      </p:sp>
      <p:pic>
        <p:nvPicPr>
          <p:cNvPr id="2" name="Picture 2" descr="\\161.9.45.212\samba\IT Cell\niat log.jpg">
            <a:extLst>
              <a:ext uri="{FF2B5EF4-FFF2-40B4-BE49-F238E27FC236}">
                <a16:creationId xmlns:a16="http://schemas.microsoft.com/office/drawing/2014/main" id="{E2E75F73-E69C-4E7B-966F-D7BBD70E2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3809999" y="2476500"/>
            <a:ext cx="1524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2" descr="\\161.9.45.212\samba\IT Cell\niat log.jpg">
            <a:extLst>
              <a:ext uri="{FF2B5EF4-FFF2-40B4-BE49-F238E27FC236}">
                <a16:creationId xmlns:a16="http://schemas.microsoft.com/office/drawing/2014/main" id="{B94A02CE-A79A-438D-96AC-5929D250B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3810000" y="2476500"/>
            <a:ext cx="1524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/>
          <p:nvPr/>
        </p:nvSpPr>
        <p:spPr>
          <a:xfrm>
            <a:off x="0" y="0"/>
            <a:ext cx="9144000" cy="761999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u="sng" kern="1200" cap="all">
                <a:solidFill>
                  <a:srgbClr val="FFFF00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/>
              <a:t>P</a:t>
            </a:r>
            <a:r>
              <a:rPr lang="en-IN" dirty="0"/>
              <a:t>RESSURE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89339" y="914400"/>
            <a:ext cx="7765322" cy="5486400"/>
          </a:xfrm>
        </p:spPr>
        <p:txBody>
          <a:bodyPr>
            <a:normAutofit/>
          </a:bodyPr>
          <a:lstStyle/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763769" y="1219200"/>
            <a:ext cx="761646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22300" algn="just">
              <a:buFont typeface="Arial" panose="020B0604020202020204" pitchFamily="34" charset="0"/>
              <a:buChar char="•"/>
            </a:pPr>
            <a:r>
              <a:rPr lang="en-US" sz="2400" dirty="0"/>
              <a:t>Force actin per unit area</a:t>
            </a:r>
            <a:endParaRPr lang="en-IN" sz="2400" dirty="0"/>
          </a:p>
          <a:p>
            <a:pPr marL="633730" indent="-633730" algn="just"/>
            <a:endParaRPr lang="hi-IN" sz="2400" dirty="0"/>
          </a:p>
          <a:p>
            <a:pPr marL="633730" indent="-633730" algn="just"/>
            <a:endParaRPr lang="en-IN" sz="2400" dirty="0"/>
          </a:p>
          <a:p>
            <a:pPr marL="633730" indent="-633730" algn="just">
              <a:buFont typeface="Arial" panose="020B0604020202020204" pitchFamily="34" charset="0"/>
              <a:buChar char="•"/>
            </a:pPr>
            <a:r>
              <a:rPr lang="en-US" sz="2400" dirty="0"/>
              <a:t>It is the normal force </a:t>
            </a:r>
            <a:r>
              <a:rPr lang="en-US" sz="2400" dirty="0">
                <a:solidFill>
                  <a:srgbClr val="FF0000"/>
                </a:solidFill>
              </a:rPr>
              <a:t>actin</a:t>
            </a:r>
            <a:r>
              <a:rPr lang="en-US" sz="2400" dirty="0"/>
              <a:t> on a surface</a:t>
            </a:r>
          </a:p>
          <a:p>
            <a:pPr marL="633730" indent="-63373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algn="just"/>
            <a:r>
              <a:rPr lang="en-US" sz="2400" dirty="0"/>
              <a:t>	</a:t>
            </a:r>
            <a:endParaRPr lang="hi-IN" sz="2400" dirty="0"/>
          </a:p>
          <a:p>
            <a:pPr indent="622300" algn="just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633730" indent="-633730" algn="just"/>
            <a:endParaRPr lang="en-IN" sz="2400" dirty="0"/>
          </a:p>
          <a:p>
            <a:pPr marL="633730" indent="-633730" algn="just">
              <a:buFont typeface="Arial" panose="020B0604020202020204" pitchFamily="34" charset="0"/>
              <a:buChar char="•"/>
            </a:pPr>
            <a:r>
              <a:rPr lang="en-IN" sz="2200" dirty="0"/>
              <a:t>Units are N/m</a:t>
            </a:r>
            <a:r>
              <a:rPr lang="en-IN" sz="2000" dirty="0"/>
              <a:t>2</a:t>
            </a:r>
            <a:endParaRPr lang="en-IN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8560186" y="6443246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651D8D-7473-4B08-9A8E-C0A30C95DD10}"/>
              </a:ext>
            </a:extLst>
          </p:cNvPr>
          <p:cNvSpPr/>
          <p:nvPr/>
        </p:nvSpPr>
        <p:spPr>
          <a:xfrm>
            <a:off x="2195736" y="3051098"/>
            <a:ext cx="4536504" cy="1097982"/>
          </a:xfrm>
          <a:prstGeom prst="rect">
            <a:avLst/>
          </a:prstGeom>
          <a:noFill/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400" dirty="0"/>
              <a:t>Pressure	= 	</a:t>
            </a:r>
            <a:r>
              <a:rPr lang="en-US" sz="2400" u="sng" dirty="0"/>
              <a:t>Force(F)</a:t>
            </a:r>
            <a:endParaRPr lang="hi-IN" sz="2400" u="sng" dirty="0"/>
          </a:p>
          <a:p>
            <a:pPr lvl="4" algn="just"/>
            <a:r>
              <a:rPr lang="en-US" sz="2400" dirty="0"/>
              <a:t>        	Area(A)</a:t>
            </a:r>
            <a:endParaRPr lang="hi-IN" sz="2400" dirty="0"/>
          </a:p>
          <a:p>
            <a:pPr algn="ctr"/>
            <a:endParaRPr lang="en-IN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0"/>
            <a:ext cx="7772400" cy="1470025"/>
          </a:xfrm>
        </p:spPr>
        <p:txBody>
          <a:bodyPr/>
          <a:lstStyle/>
          <a:p>
            <a:r>
              <a:rPr lang="en-US" dirty="0"/>
              <a:t>PRESSURE</a:t>
            </a:r>
            <a:endParaRPr lang="hi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3BC4DA-E12C-4F87-BA39-1184D9C47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966" y="1622425"/>
            <a:ext cx="3304198" cy="28146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099C13-FCF8-4860-88EA-D410164D6A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6956" y="4706486"/>
            <a:ext cx="2828316" cy="765309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0915" y="1386205"/>
            <a:ext cx="7487285" cy="4581525"/>
          </a:xfrm>
        </p:spPr>
        <p:txBody>
          <a:bodyPr>
            <a:normAutofit fontScale="97500"/>
          </a:bodyPr>
          <a:lstStyle/>
          <a:p>
            <a:endParaRPr lang="hi-IN" dirty="0"/>
          </a:p>
        </p:txBody>
      </p:sp>
      <p:sp>
        <p:nvSpPr>
          <p:cNvPr id="6" name="TextBox 5"/>
          <p:cNvSpPr txBox="1"/>
          <p:nvPr/>
        </p:nvSpPr>
        <p:spPr>
          <a:xfrm>
            <a:off x="8560186" y="6443246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/>
          <p:nvPr/>
        </p:nvSpPr>
        <p:spPr>
          <a:xfrm>
            <a:off x="0" y="0"/>
            <a:ext cx="9144000" cy="761999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u="sng" kern="1200" cap="all">
                <a:solidFill>
                  <a:srgbClr val="FFFF00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/>
              <a:t>Atmospheric pressure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89339" y="914400"/>
            <a:ext cx="7765322" cy="5486400"/>
          </a:xfrm>
        </p:spPr>
        <p:txBody>
          <a:bodyPr>
            <a:normAutofit/>
          </a:bodyPr>
          <a:lstStyle/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454802" y="1219038"/>
            <a:ext cx="7616461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24205" algn="just">
              <a:buFont typeface="Arial" panose="020B0604020202020204" pitchFamily="34" charset="0"/>
              <a:buChar char="•"/>
            </a:pPr>
            <a:r>
              <a:rPr lang="en-IN" sz="2200" dirty="0"/>
              <a:t>It is the force per unit area exerted against a surface by the weight of air above tat surface</a:t>
            </a:r>
          </a:p>
          <a:p>
            <a:pPr indent="624205" algn="just">
              <a:buFont typeface="Arial" panose="020B0604020202020204" pitchFamily="34" charset="0"/>
              <a:buChar char="•"/>
            </a:pPr>
            <a:endParaRPr lang="en-IN" sz="2200" dirty="0"/>
          </a:p>
          <a:p>
            <a:pPr marL="633730" indent="-633730" algn="just">
              <a:buFont typeface="Arial" panose="020B0604020202020204" pitchFamily="34" charset="0"/>
              <a:buChar char="•"/>
            </a:pPr>
            <a:r>
              <a:rPr lang="en-IN" sz="2200" dirty="0"/>
              <a:t>Pressure at point X increases or decreases as weight of air in the column increases or decreases </a:t>
            </a:r>
          </a:p>
          <a:p>
            <a:pPr marL="633730" indent="-633730" algn="just">
              <a:buFont typeface="Arial" panose="020B0604020202020204" pitchFamily="34" charset="0"/>
              <a:buChar char="•"/>
            </a:pPr>
            <a:endParaRPr lang="en-IN" sz="2200" dirty="0"/>
          </a:p>
          <a:p>
            <a:pPr marL="633730" indent="-633730" algn="just">
              <a:buFont typeface="Arial" panose="020B0604020202020204" pitchFamily="34" charset="0"/>
              <a:buChar char="•"/>
            </a:pPr>
            <a:endParaRPr lang="en-IN" sz="2200" dirty="0"/>
          </a:p>
          <a:p>
            <a:pPr marL="633730" indent="-633730" algn="just">
              <a:buFont typeface="Arial" panose="020B0604020202020204" pitchFamily="34" charset="0"/>
              <a:buChar char="•"/>
            </a:pPr>
            <a:endParaRPr lang="en-IN" sz="2200" dirty="0"/>
          </a:p>
          <a:p>
            <a:pPr marL="633730" indent="-633730" algn="just">
              <a:buFont typeface="Arial" panose="020B0604020202020204" pitchFamily="34" charset="0"/>
              <a:buChar char="•"/>
            </a:pPr>
            <a:endParaRPr lang="en-IN" sz="2200" dirty="0"/>
          </a:p>
          <a:p>
            <a:pPr marL="633730" indent="-633730" algn="just">
              <a:buFont typeface="Arial" panose="020B0604020202020204" pitchFamily="34" charset="0"/>
              <a:buChar char="•"/>
            </a:pPr>
            <a:endParaRPr lang="en-IN" sz="2200" dirty="0"/>
          </a:p>
          <a:p>
            <a:pPr marL="633730" indent="-633730" algn="just">
              <a:buFont typeface="Arial" panose="020B0604020202020204" pitchFamily="34" charset="0"/>
              <a:buChar char="•"/>
            </a:pPr>
            <a:endParaRPr lang="en-IN" sz="2200" dirty="0"/>
          </a:p>
          <a:p>
            <a:pPr marL="633730" indent="-633730" algn="just">
              <a:buFont typeface="Arial" panose="020B0604020202020204" pitchFamily="34" charset="0"/>
              <a:buChar char="•"/>
            </a:pPr>
            <a:endParaRPr lang="en-IN" sz="2200" dirty="0"/>
          </a:p>
          <a:p>
            <a:pPr marL="633730" indent="-633730" algn="just">
              <a:buFont typeface="Arial" panose="020B0604020202020204" pitchFamily="34" charset="0"/>
              <a:buChar char="•"/>
            </a:pPr>
            <a:endParaRPr lang="en-IN" sz="2200" dirty="0"/>
          </a:p>
          <a:p>
            <a:pPr marL="633730" indent="-633730" algn="just">
              <a:buFont typeface="Arial" panose="020B0604020202020204" pitchFamily="34" charset="0"/>
              <a:buChar char="•"/>
            </a:pPr>
            <a:endParaRPr lang="en-IN" sz="2200" dirty="0"/>
          </a:p>
          <a:p>
            <a:pPr marL="633730" indent="-633730" algn="just">
              <a:buFont typeface="Arial" panose="020B0604020202020204" pitchFamily="34" charset="0"/>
              <a:buChar char="•"/>
            </a:pPr>
            <a:endParaRPr lang="en-IN" sz="2200" dirty="0"/>
          </a:p>
        </p:txBody>
      </p:sp>
      <p:sp>
        <p:nvSpPr>
          <p:cNvPr id="8" name="TextBox 7"/>
          <p:cNvSpPr txBox="1"/>
          <p:nvPr/>
        </p:nvSpPr>
        <p:spPr>
          <a:xfrm>
            <a:off x="8560186" y="6443246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8</a:t>
            </a:r>
          </a:p>
        </p:txBody>
      </p:sp>
      <p:pic>
        <p:nvPicPr>
          <p:cNvPr id="1028" name="Picture 4" descr="Atmospheric Pressure: force exerted by the weight of the air">
            <a:extLst>
              <a:ext uri="{FF2B5EF4-FFF2-40B4-BE49-F238E27FC236}">
                <a16:creationId xmlns:a16="http://schemas.microsoft.com/office/drawing/2014/main" id="{0EF665D1-17F4-4CCD-B29B-64F12C5FC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3429000"/>
            <a:ext cx="4547229" cy="2578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/>
          <p:nvPr/>
        </p:nvSpPr>
        <p:spPr>
          <a:xfrm>
            <a:off x="0" y="0"/>
            <a:ext cx="9144000" cy="761999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u="sng" kern="1200" cap="all">
                <a:solidFill>
                  <a:srgbClr val="FFFF00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IN" dirty="0"/>
              <a:t>density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89339" y="914400"/>
            <a:ext cx="7765322" cy="5486400"/>
          </a:xfrm>
        </p:spPr>
        <p:txBody>
          <a:bodyPr>
            <a:normAutofit/>
          </a:bodyPr>
          <a:lstStyle/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689339" y="857251"/>
            <a:ext cx="769089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24205" algn="just">
              <a:buFont typeface="Arial" panose="020B0604020202020204" pitchFamily="34" charset="0"/>
              <a:buChar char="•"/>
            </a:pPr>
            <a:r>
              <a:rPr lang="en-US" sz="2200" dirty="0"/>
              <a:t>The density of a substance is the mass of </a:t>
            </a:r>
            <a:r>
              <a:rPr lang="en-US" sz="2200" dirty="0">
                <a:solidFill>
                  <a:srgbClr val="FF0000"/>
                </a:solidFill>
              </a:rPr>
              <a:t>tat</a:t>
            </a:r>
            <a:r>
              <a:rPr lang="en-US" sz="2200" dirty="0"/>
              <a:t> substance per unit volume</a:t>
            </a:r>
          </a:p>
          <a:p>
            <a:pPr indent="624205" algn="just"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624205" algn="just"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624205" algn="just"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624205" algn="just">
              <a:buFont typeface="Arial" panose="020B0604020202020204" pitchFamily="34" charset="0"/>
              <a:buChar char="•"/>
            </a:pPr>
            <a:endParaRPr lang="en-IN" sz="2200" dirty="0"/>
          </a:p>
        </p:txBody>
      </p:sp>
      <p:sp>
        <p:nvSpPr>
          <p:cNvPr id="5" name="TextBox 4"/>
          <p:cNvSpPr txBox="1"/>
          <p:nvPr/>
        </p:nvSpPr>
        <p:spPr>
          <a:xfrm>
            <a:off x="8458200" y="6443246"/>
            <a:ext cx="29591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IN" sz="1600" dirty="0"/>
              <a:t>8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FA204D-BA75-4544-995A-C07AB88B3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8216" y="1844824"/>
            <a:ext cx="4325894" cy="25201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4D9C60-9F30-435E-B185-902C6EC0D5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965" y="2464819"/>
            <a:ext cx="3262957" cy="10746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4F7F54-9932-4D3E-B11E-9874C200AA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7664" y="4418027"/>
            <a:ext cx="6480720" cy="942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/>
          <p:nvPr/>
        </p:nvSpPr>
        <p:spPr>
          <a:xfrm>
            <a:off x="0" y="0"/>
            <a:ext cx="9144000" cy="761999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u="sng" kern="1200" cap="all">
                <a:solidFill>
                  <a:srgbClr val="FFFF00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/>
              <a:t>Pressure </a:t>
            </a:r>
            <a:r>
              <a:rPr lang="en-IN" dirty="0"/>
              <a:t>head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89339" y="914400"/>
            <a:ext cx="7765322" cy="5486400"/>
          </a:xfrm>
        </p:spPr>
        <p:txBody>
          <a:bodyPr>
            <a:normAutofit/>
          </a:bodyPr>
          <a:lstStyle/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868680" y="1351508"/>
            <a:ext cx="7616461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24205" algn="just">
              <a:buFont typeface="Arial" panose="020B0604020202020204" pitchFamily="34" charset="0"/>
              <a:buChar char="•"/>
            </a:pPr>
            <a:r>
              <a:rPr lang="en-IN" sz="2200" dirty="0"/>
              <a:t>Pressure head is the height of the liquid column tat corresponds to a particular pressure exerted by the liquid column on the base of container</a:t>
            </a:r>
          </a:p>
          <a:p>
            <a:pPr algn="just"/>
            <a:endParaRPr lang="en-IN" sz="2200" dirty="0"/>
          </a:p>
          <a:p>
            <a:pPr indent="624205" algn="just">
              <a:buFont typeface="Arial" panose="020B0604020202020204" pitchFamily="34" charset="0"/>
              <a:buChar char="•"/>
            </a:pPr>
            <a:r>
              <a:rPr lang="en-IN" sz="2200" dirty="0"/>
              <a:t>It is also known as STATIC PRESSURE HEAD or STATIC HEAD</a:t>
            </a:r>
          </a:p>
          <a:p>
            <a:pPr indent="624205" algn="just">
              <a:buFont typeface="Arial" panose="020B0604020202020204" pitchFamily="34" charset="0"/>
              <a:buChar char="•"/>
            </a:pPr>
            <a:endParaRPr lang="en-IN" sz="2200" dirty="0"/>
          </a:p>
          <a:p>
            <a:pPr indent="624205" algn="just">
              <a:buFont typeface="Arial" panose="020B0604020202020204" pitchFamily="34" charset="0"/>
              <a:buChar char="•"/>
            </a:pPr>
            <a:endParaRPr lang="en-IN" sz="2200" dirty="0"/>
          </a:p>
          <a:p>
            <a:pPr indent="624205" algn="just">
              <a:buFont typeface="Arial" panose="020B0604020202020204" pitchFamily="34" charset="0"/>
              <a:buChar char="•"/>
            </a:pPr>
            <a:endParaRPr lang="en-IN" sz="2200" dirty="0"/>
          </a:p>
          <a:p>
            <a:pPr indent="624205" algn="just">
              <a:buFont typeface="Arial" panose="020B0604020202020204" pitchFamily="34" charset="0"/>
              <a:buChar char="•"/>
            </a:pPr>
            <a:endParaRPr lang="en-IN" sz="2200" dirty="0"/>
          </a:p>
          <a:p>
            <a:pPr indent="624205" algn="just">
              <a:buFont typeface="Arial" panose="020B0604020202020204" pitchFamily="34" charset="0"/>
              <a:buChar char="•"/>
            </a:pPr>
            <a:r>
              <a:rPr lang="en-IN" sz="2800" dirty="0"/>
              <a:t>ᴪ	- </a:t>
            </a:r>
            <a:r>
              <a:rPr lang="en-IN" sz="2200" dirty="0"/>
              <a:t>Pressure head </a:t>
            </a:r>
          </a:p>
          <a:p>
            <a:pPr indent="624205" algn="just">
              <a:buFont typeface="Arial" panose="020B0604020202020204" pitchFamily="34" charset="0"/>
              <a:buChar char="•"/>
            </a:pPr>
            <a:r>
              <a:rPr lang="en-IN" sz="4000" b="1" dirty="0"/>
              <a:t>ᵖ	</a:t>
            </a:r>
            <a:r>
              <a:rPr lang="en-IN" sz="2200" dirty="0"/>
              <a:t>- Pressure</a:t>
            </a:r>
          </a:p>
          <a:p>
            <a:pPr indent="624205" algn="just">
              <a:buFont typeface="Arial" panose="020B0604020202020204" pitchFamily="34" charset="0"/>
              <a:buChar char="•"/>
            </a:pPr>
            <a:r>
              <a:rPr lang="en-IN" sz="4000" b="1" dirty="0"/>
              <a:t>ᵟ</a:t>
            </a:r>
            <a:r>
              <a:rPr lang="en-IN" sz="2200" dirty="0"/>
              <a:t>- Specific Weight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443246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15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4E6D2B-343F-4858-9246-775D6AC48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816" y="3502006"/>
            <a:ext cx="2664296" cy="11412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055370"/>
          </a:xfrm>
        </p:spPr>
        <p:txBody>
          <a:bodyPr/>
          <a:lstStyle/>
          <a:p>
            <a:r>
              <a:rPr lang="en-US" dirty="0"/>
              <a:t>Forces at equilibrium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9480" y="1281430"/>
            <a:ext cx="6543675" cy="4438650"/>
          </a:xfrm>
        </p:spPr>
        <p:txBody>
          <a:bodyPr/>
          <a:lstStyle/>
          <a:p>
            <a:pPr algn="l">
              <a:buFont typeface="Arial" panose="020B0604020202020204" pitchFamily="34" charset="0"/>
            </a:pPr>
            <a:r>
              <a:rPr lang="en-US" sz="2400" dirty="0"/>
              <a:t>	An object in equilibrium </a:t>
            </a:r>
            <a:r>
              <a:rPr lang="en-IN" sz="2400" dirty="0"/>
              <a:t>h</a:t>
            </a:r>
            <a:r>
              <a:rPr lang="en-US" sz="2400" dirty="0"/>
              <a:t>as sum of forces actin</a:t>
            </a:r>
            <a:r>
              <a:rPr lang="en-IN" sz="2400" dirty="0"/>
              <a:t>g</a:t>
            </a:r>
            <a:r>
              <a:rPr lang="en-US" sz="2400" dirty="0"/>
              <a:t> on it equals to zero</a:t>
            </a:r>
          </a:p>
          <a:p>
            <a:pPr algn="l">
              <a:buFont typeface="Arial" panose="020B0604020202020204" pitchFamily="34" charset="0"/>
            </a:pPr>
            <a:endParaRPr lang="en-US" sz="2400" dirty="0"/>
          </a:p>
        </p:txBody>
      </p:sp>
      <p:sp>
        <p:nvSpPr>
          <p:cNvPr id="5" name="AutoShape 2" descr="Equilibrium of Forces">
            <a:extLst>
              <a:ext uri="{FF2B5EF4-FFF2-40B4-BE49-F238E27FC236}">
                <a16:creationId xmlns:a16="http://schemas.microsoft.com/office/drawing/2014/main" id="{5153CE1C-3665-408B-B13C-F51706A55F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Equilibrium of Forces">
            <a:extLst>
              <a:ext uri="{FF2B5EF4-FFF2-40B4-BE49-F238E27FC236}">
                <a16:creationId xmlns:a16="http://schemas.microsoft.com/office/drawing/2014/main" id="{DBFD159D-4125-4FC2-BD87-43C29A99BB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C3561B-A73C-4D1C-A668-E0C80D2242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845" y="2348880"/>
            <a:ext cx="5602932" cy="4202199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37EDE-F2A1-448D-83A4-F8386BF11F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-268579"/>
            <a:ext cx="7772400" cy="1470025"/>
          </a:xfrm>
        </p:spPr>
        <p:txBody>
          <a:bodyPr/>
          <a:lstStyle/>
          <a:p>
            <a:r>
              <a:rPr lang="en-US" dirty="0"/>
              <a:t>Forces on equilibrium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D9474C-4B91-4CC6-9057-CE1B0A03F5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5656" y="4725144"/>
            <a:ext cx="6400800" cy="1752600"/>
          </a:xfrm>
        </p:spPr>
        <p:txBody>
          <a:bodyPr>
            <a:normAutofit/>
          </a:bodyPr>
          <a:lstStyle/>
          <a:p>
            <a:pPr algn="just"/>
            <a:r>
              <a:rPr lang="en-US" sz="2200" dirty="0"/>
              <a:t>At equilibrium sum of  Lift &amp; Weight, thrust &amp; drag will become zero</a:t>
            </a:r>
            <a:endParaRPr lang="en-IN" sz="2200" dirty="0"/>
          </a:p>
        </p:txBody>
      </p:sp>
      <p:pic>
        <p:nvPicPr>
          <p:cNvPr id="3078" name="Picture 6" descr="Forces Acting on the Aircraft - Aerodynamics of Flight | Aircraft Systems">
            <a:extLst>
              <a:ext uri="{FF2B5EF4-FFF2-40B4-BE49-F238E27FC236}">
                <a16:creationId xmlns:a16="http://schemas.microsoft.com/office/drawing/2014/main" id="{4EE246CD-0835-4677-B89C-FA0C20E74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052736"/>
            <a:ext cx="5029200" cy="340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21071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endParaRPr lang="en-IN" dirty="0"/>
          </a:p>
        </p:txBody>
      </p:sp>
      <p:sp>
        <p:nvSpPr>
          <p:cNvPr id="105475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altLang="en-US" dirty="0"/>
          </a:p>
        </p:txBody>
      </p:sp>
      <p:pic>
        <p:nvPicPr>
          <p:cNvPr id="105476" name="Picture 2" descr="1 (39)"/>
          <p:cNvPicPr>
            <a:picLocks noChangeAspect="1" noChangeArrowheads="1"/>
          </p:cNvPicPr>
          <p:nvPr/>
        </p:nvPicPr>
        <p:blipFill>
          <a:blip r:embed="rId3" cstate="print"/>
          <a:srcRect l="6977" t="6977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 txBox="1"/>
          <p:nvPr/>
        </p:nvSpPr>
        <p:spPr bwMode="auto">
          <a:xfrm>
            <a:off x="0" y="5829300"/>
            <a:ext cx="9144000" cy="102870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/>
          </a:bodyPr>
          <a:lstStyle>
            <a:lvl1pPr algn="ctr" defTabSz="685800" eaLnBrk="1" latinLnBrk="0" hangingPunct="1">
              <a:lnSpc>
                <a:spcPct val="90000"/>
              </a:lnSpc>
              <a:buNone/>
              <a:defRPr sz="3200" b="1" i="0" u="sng" cap="all">
                <a:solidFill>
                  <a:srgbClr val="FFFF00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sz="6600" b="0" u="none" cap="none" dirty="0">
                <a:ln w="6350">
                  <a:noFill/>
                </a:ln>
                <a:solidFill>
                  <a:schemeClr val="tx1"/>
                </a:solidFill>
                <a:effectLst/>
                <a:latin typeface="Monotype Corsiva" panose="03010101010201010101" pitchFamily="66" charset="0"/>
                <a:ea typeface="+mn-ea"/>
              </a:rPr>
              <a:t>Thank You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9938" r="21135"/>
          <a:stretch>
            <a:fillRect/>
          </a:stretch>
        </p:blipFill>
        <p:spPr bwMode="auto">
          <a:xfrm rot="206801">
            <a:off x="6812928" y="372839"/>
            <a:ext cx="2298331" cy="1158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4" descr="\\161.9.45.212\samba\IT Cell\p8i\p-8I.jpg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 rot="20415263">
            <a:off x="-163331" y="21374"/>
            <a:ext cx="3071907" cy="1372109"/>
          </a:xfrm>
          <a:prstGeom prst="rect">
            <a:avLst/>
          </a:prstGeom>
          <a:noFill/>
        </p:spPr>
      </p:pic>
      <p:pic>
        <p:nvPicPr>
          <p:cNvPr id="8" name="Picture 2" descr="\\161.9.45.212\samba\IT Cell\niat log.jpg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7620001" y="2823408"/>
            <a:ext cx="1524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488" y="2158154"/>
            <a:ext cx="2681288" cy="214503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54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1147</TotalTime>
  <Words>313</Words>
  <Application>Microsoft Office PowerPoint</Application>
  <PresentationFormat>On-screen Show (4:3)</PresentationFormat>
  <Paragraphs>77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Monotype Corsiva</vt:lpstr>
      <vt:lpstr>Rockwell</vt:lpstr>
      <vt:lpstr>Damask</vt:lpstr>
      <vt:lpstr>pressure, atmospheric pressure, density, pressure head and forces on equilibrium</vt:lpstr>
      <vt:lpstr>PowerPoint Presentation</vt:lpstr>
      <vt:lpstr>PRESSURE</vt:lpstr>
      <vt:lpstr>PowerPoint Presentation</vt:lpstr>
      <vt:lpstr>PowerPoint Presentation</vt:lpstr>
      <vt:lpstr>PowerPoint Presentation</vt:lpstr>
      <vt:lpstr>Forces at equilibrium</vt:lpstr>
      <vt:lpstr>Forces on equilibrium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NAVAL INSTITUTE OF  AERONAUTICAL TECHNOLOGY</dc:title>
  <dc:creator>niat-itofficer</dc:creator>
  <cp:lastModifiedBy>Prakash Pujari</cp:lastModifiedBy>
  <cp:revision>2191</cp:revision>
  <dcterms:created xsi:type="dcterms:W3CDTF">2017-07-14T05:21:00Z</dcterms:created>
  <dcterms:modified xsi:type="dcterms:W3CDTF">2020-11-02T06:07:07Z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1033-11.2.0.9669</vt:lpwstr>
  </property>
</Properties>
</file>